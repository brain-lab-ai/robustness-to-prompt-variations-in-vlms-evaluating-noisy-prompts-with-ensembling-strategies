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22" r:id="rId5"/>
    <p:sldId id="321" r:id="rId6"/>
    <p:sldId id="323" r:id="rId7"/>
    <p:sldId id="372" r:id="rId8"/>
    <p:sldId id="392" r:id="rId9"/>
    <p:sldId id="369" r:id="rId10"/>
    <p:sldId id="388" r:id="rId11"/>
    <p:sldId id="396" r:id="rId12"/>
    <p:sldId id="397" r:id="rId13"/>
    <p:sldId id="371" r:id="rId14"/>
    <p:sldId id="375" r:id="rId15"/>
    <p:sldId id="380" r:id="rId16"/>
    <p:sldId id="393" r:id="rId17"/>
    <p:sldId id="381" r:id="rId18"/>
    <p:sldId id="378" r:id="rId19"/>
    <p:sldId id="376" r:id="rId20"/>
    <p:sldId id="390" r:id="rId21"/>
    <p:sldId id="391" r:id="rId22"/>
    <p:sldId id="379" r:id="rId23"/>
    <p:sldId id="394" r:id="rId24"/>
    <p:sldId id="395" r:id="rId25"/>
    <p:sldId id="383" r:id="rId26"/>
    <p:sldId id="387" r:id="rId27"/>
    <p:sldId id="386" r:id="rId28"/>
    <p:sldId id="384" r:id="rId29"/>
    <p:sldId id="385" r:id="rId30"/>
    <p:sldId id="382" r:id="rId31"/>
    <p:sldId id="401" r:id="rId32"/>
    <p:sldId id="377" r:id="rId33"/>
    <p:sldId id="399" r:id="rId34"/>
    <p:sldId id="389" r:id="rId35"/>
    <p:sldId id="398" r:id="rId36"/>
    <p:sldId id="400" r:id="rId37"/>
    <p:sldId id="31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342F3-190E-04CA-A8B2-DD25042AC8D9}" v="557" dt="2025-10-14T13:05:21.797"/>
    <p1510:client id="{0BF6ECA5-61A5-7A0F-D20B-F2D2CDFFE408}" v="81" dt="2025-10-14T13:04:18.816"/>
    <p1510:client id="{33C9004D-C5D1-450B-88E7-9F284CC9C4B1}" v="54" dt="2025-10-14T02:35:29.608"/>
    <p1510:client id="{4591BD3A-E330-2408-42EF-0F9A303455D9}" v="873" dt="2025-10-13T22:01:47.954"/>
    <p1510:client id="{611FB30C-BC25-BF38-6010-69B5A6CAEA14}" v="63" dt="2025-10-14T10:08:01.232"/>
    <p1510:client id="{803CAE8D-ABF5-5A51-ABAB-74B3E3269DB3}" v="86" dt="2025-10-14T08:36:44.347"/>
    <p1510:client id="{970B6054-E721-64EB-24CE-1F3C67848F97}" v="48" dt="2025-10-13T19:40:30.845"/>
    <p1510:client id="{BE8BFEB1-3D62-DF28-F88C-0F20126D9030}" v="19" dt="2025-10-14T06:15:04.184"/>
    <p1510:client id="{C2C525A9-44DF-20D9-5B05-10DFD66820BD}" v="1284" dt="2025-10-14T12:44:05.777"/>
    <p1510:client id="{C3F6A0E4-C798-2748-1C03-1E58A6A95D0A}" v="26" dt="2025-10-14T06:26:12.942"/>
    <p1510:client id="{D88BC3FF-8C9C-4ED7-8C0C-C188C1FDFC2A}" v="360" dt="2025-10-14T08:20:01.225"/>
    <p1510:client id="{EB1A8CD2-EA9D-433E-4FD3-EAA4DF87FDFF}" v="155" dt="2025-10-14T10:43:15.353"/>
    <p1510:client id="{F8E0FE6F-1A51-9D98-AA23-DD10F011F9D9}" v="23" dt="2025-10-14T11:00:59.005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80000"/>
  </p:normalViewPr>
  <p:slideViewPr>
    <p:cSldViewPr snapToGrid="0">
      <p:cViewPr varScale="1">
        <p:scale>
          <a:sx n="84" d="100"/>
          <a:sy n="84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508FD7-C5A8-C44F-9D4F-2F502FC27D0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6BA72533-D590-CD43-9177-6C5B6A8C3B8A}">
      <dgm:prSet phldrT="[Text]"/>
      <dgm:spPr/>
      <dgm:t>
        <a:bodyPr/>
        <a:lstStyle/>
        <a:p>
          <a:r>
            <a:rPr lang="en-US" dirty="0"/>
            <a:t>Phase 1: Baseline Benchmarking (Clean Prompts)</a:t>
          </a:r>
        </a:p>
      </dgm:t>
    </dgm:pt>
    <dgm:pt modelId="{834A57D8-4644-FD40-94F3-080D2C1BBD8A}" type="parTrans" cxnId="{8B80B08C-ECF9-B344-B9E0-BAE2889C9FD8}">
      <dgm:prSet/>
      <dgm:spPr/>
      <dgm:t>
        <a:bodyPr/>
        <a:lstStyle/>
        <a:p>
          <a:endParaRPr lang="en-US"/>
        </a:p>
      </dgm:t>
    </dgm:pt>
    <dgm:pt modelId="{F1B92A73-7EF0-5A49-9DAE-5F1F0639BD26}" type="sibTrans" cxnId="{8B80B08C-ECF9-B344-B9E0-BAE2889C9FD8}">
      <dgm:prSet/>
      <dgm:spPr/>
      <dgm:t>
        <a:bodyPr/>
        <a:lstStyle/>
        <a:p>
          <a:endParaRPr lang="en-US"/>
        </a:p>
      </dgm:t>
    </dgm:pt>
    <dgm:pt modelId="{21806D8E-9174-6145-A595-090020B490E8}">
      <dgm:prSet phldrT="[Text]"/>
      <dgm:spPr/>
      <dgm:t>
        <a:bodyPr/>
        <a:lstStyle/>
        <a:p>
          <a:r>
            <a:rPr lang="en-US" dirty="0"/>
            <a:t>Phase 2: Noise Robustness Evaluation.</a:t>
          </a:r>
        </a:p>
      </dgm:t>
    </dgm:pt>
    <dgm:pt modelId="{2B4661E0-50CB-CB46-91C4-CB7A19B45926}" type="parTrans" cxnId="{2D668172-AFC4-B94D-9607-41EFCF67DA1F}">
      <dgm:prSet/>
      <dgm:spPr/>
      <dgm:t>
        <a:bodyPr/>
        <a:lstStyle/>
        <a:p>
          <a:endParaRPr lang="en-US"/>
        </a:p>
      </dgm:t>
    </dgm:pt>
    <dgm:pt modelId="{F6CAE7A4-F9FC-774A-AFB8-33A048315308}" type="sibTrans" cxnId="{2D668172-AFC4-B94D-9607-41EFCF67DA1F}">
      <dgm:prSet/>
      <dgm:spPr/>
      <dgm:t>
        <a:bodyPr/>
        <a:lstStyle/>
        <a:p>
          <a:endParaRPr lang="en-US"/>
        </a:p>
      </dgm:t>
    </dgm:pt>
    <dgm:pt modelId="{695E0AE3-3AD5-FD44-82A7-B855219BE1D7}">
      <dgm:prSet phldrT="[Text]"/>
      <dgm:spPr/>
      <dgm:t>
        <a:bodyPr/>
        <a:lstStyle/>
        <a:p>
          <a:r>
            <a:rPr lang="en-US" dirty="0"/>
            <a:t>Phase 3: Noise-Aware Fine-Tuning</a:t>
          </a:r>
        </a:p>
      </dgm:t>
    </dgm:pt>
    <dgm:pt modelId="{40934FB8-FB2F-F54F-953B-677B602BADDD}" type="parTrans" cxnId="{9B11B26E-7886-5B43-AA21-46FBF88097C8}">
      <dgm:prSet/>
      <dgm:spPr/>
      <dgm:t>
        <a:bodyPr/>
        <a:lstStyle/>
        <a:p>
          <a:endParaRPr lang="en-US"/>
        </a:p>
      </dgm:t>
    </dgm:pt>
    <dgm:pt modelId="{F13C1CC8-F536-7B4E-BBB8-FA029CFFA04A}" type="sibTrans" cxnId="{9B11B26E-7886-5B43-AA21-46FBF88097C8}">
      <dgm:prSet/>
      <dgm:spPr/>
      <dgm:t>
        <a:bodyPr/>
        <a:lstStyle/>
        <a:p>
          <a:endParaRPr lang="en-US"/>
        </a:p>
      </dgm:t>
    </dgm:pt>
    <dgm:pt modelId="{8BC4C51B-847A-274E-9183-F53A6361CC9A}" type="pres">
      <dgm:prSet presAssocID="{F5508FD7-C5A8-C44F-9D4F-2F502FC27D0A}" presName="Name0" presStyleCnt="0">
        <dgm:presLayoutVars>
          <dgm:dir/>
          <dgm:resizeHandles val="exact"/>
        </dgm:presLayoutVars>
      </dgm:prSet>
      <dgm:spPr/>
    </dgm:pt>
    <dgm:pt modelId="{E9F4BC40-810B-3D43-B06C-771D7098C298}" type="pres">
      <dgm:prSet presAssocID="{6BA72533-D590-CD43-9177-6C5B6A8C3B8A}" presName="parTxOnly" presStyleLbl="node1" presStyleIdx="0" presStyleCnt="3">
        <dgm:presLayoutVars>
          <dgm:bulletEnabled val="1"/>
        </dgm:presLayoutVars>
      </dgm:prSet>
      <dgm:spPr/>
    </dgm:pt>
    <dgm:pt modelId="{968CCB8F-9D6A-414F-95F3-50D1F033F27C}" type="pres">
      <dgm:prSet presAssocID="{F1B92A73-7EF0-5A49-9DAE-5F1F0639BD26}" presName="parSpace" presStyleCnt="0"/>
      <dgm:spPr/>
    </dgm:pt>
    <dgm:pt modelId="{DB81DC6C-484F-A240-8D58-A6D87FCD3070}" type="pres">
      <dgm:prSet presAssocID="{21806D8E-9174-6145-A595-090020B490E8}" presName="parTxOnly" presStyleLbl="node1" presStyleIdx="1" presStyleCnt="3">
        <dgm:presLayoutVars>
          <dgm:bulletEnabled val="1"/>
        </dgm:presLayoutVars>
      </dgm:prSet>
      <dgm:spPr/>
    </dgm:pt>
    <dgm:pt modelId="{CBA3A523-CEFF-8D47-AB98-0E113D181495}" type="pres">
      <dgm:prSet presAssocID="{F6CAE7A4-F9FC-774A-AFB8-33A048315308}" presName="parSpace" presStyleCnt="0"/>
      <dgm:spPr/>
    </dgm:pt>
    <dgm:pt modelId="{FEC69EBE-1F2C-7445-A444-B6A98CCE2B1C}" type="pres">
      <dgm:prSet presAssocID="{695E0AE3-3AD5-FD44-82A7-B855219BE1D7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E8834535-3624-B447-B94F-92591D834269}" type="presOf" srcId="{21806D8E-9174-6145-A595-090020B490E8}" destId="{DB81DC6C-484F-A240-8D58-A6D87FCD3070}" srcOrd="0" destOrd="0" presId="urn:microsoft.com/office/officeart/2005/8/layout/hChevron3"/>
    <dgm:cxn modelId="{4A30936A-D72E-744B-A9F8-DF0BC5FCCBBA}" type="presOf" srcId="{695E0AE3-3AD5-FD44-82A7-B855219BE1D7}" destId="{FEC69EBE-1F2C-7445-A444-B6A98CCE2B1C}" srcOrd="0" destOrd="0" presId="urn:microsoft.com/office/officeart/2005/8/layout/hChevron3"/>
    <dgm:cxn modelId="{9B11B26E-7886-5B43-AA21-46FBF88097C8}" srcId="{F5508FD7-C5A8-C44F-9D4F-2F502FC27D0A}" destId="{695E0AE3-3AD5-FD44-82A7-B855219BE1D7}" srcOrd="2" destOrd="0" parTransId="{40934FB8-FB2F-F54F-953B-677B602BADDD}" sibTransId="{F13C1CC8-F536-7B4E-BBB8-FA029CFFA04A}"/>
    <dgm:cxn modelId="{2D668172-AFC4-B94D-9607-41EFCF67DA1F}" srcId="{F5508FD7-C5A8-C44F-9D4F-2F502FC27D0A}" destId="{21806D8E-9174-6145-A595-090020B490E8}" srcOrd="1" destOrd="0" parTransId="{2B4661E0-50CB-CB46-91C4-CB7A19B45926}" sibTransId="{F6CAE7A4-F9FC-774A-AFB8-33A048315308}"/>
    <dgm:cxn modelId="{8B80B08C-ECF9-B344-B9E0-BAE2889C9FD8}" srcId="{F5508FD7-C5A8-C44F-9D4F-2F502FC27D0A}" destId="{6BA72533-D590-CD43-9177-6C5B6A8C3B8A}" srcOrd="0" destOrd="0" parTransId="{834A57D8-4644-FD40-94F3-080D2C1BBD8A}" sibTransId="{F1B92A73-7EF0-5A49-9DAE-5F1F0639BD26}"/>
    <dgm:cxn modelId="{2FCD7AC5-F31F-2E48-ACE2-D595034D8D9C}" type="presOf" srcId="{6BA72533-D590-CD43-9177-6C5B6A8C3B8A}" destId="{E9F4BC40-810B-3D43-B06C-771D7098C298}" srcOrd="0" destOrd="0" presId="urn:microsoft.com/office/officeart/2005/8/layout/hChevron3"/>
    <dgm:cxn modelId="{05C6C6F8-5A5C-9949-AD86-E2B48CD1FF8A}" type="presOf" srcId="{F5508FD7-C5A8-C44F-9D4F-2F502FC27D0A}" destId="{8BC4C51B-847A-274E-9183-F53A6361CC9A}" srcOrd="0" destOrd="0" presId="urn:microsoft.com/office/officeart/2005/8/layout/hChevron3"/>
    <dgm:cxn modelId="{01B622BA-0192-314C-B50F-9F802C0FCC94}" type="presParOf" srcId="{8BC4C51B-847A-274E-9183-F53A6361CC9A}" destId="{E9F4BC40-810B-3D43-B06C-771D7098C298}" srcOrd="0" destOrd="0" presId="urn:microsoft.com/office/officeart/2005/8/layout/hChevron3"/>
    <dgm:cxn modelId="{C9315E18-2D7A-6345-8919-425370BD8DA5}" type="presParOf" srcId="{8BC4C51B-847A-274E-9183-F53A6361CC9A}" destId="{968CCB8F-9D6A-414F-95F3-50D1F033F27C}" srcOrd="1" destOrd="0" presId="urn:microsoft.com/office/officeart/2005/8/layout/hChevron3"/>
    <dgm:cxn modelId="{1611E6AC-7440-7347-80C5-158C37CD1F99}" type="presParOf" srcId="{8BC4C51B-847A-274E-9183-F53A6361CC9A}" destId="{DB81DC6C-484F-A240-8D58-A6D87FCD3070}" srcOrd="2" destOrd="0" presId="urn:microsoft.com/office/officeart/2005/8/layout/hChevron3"/>
    <dgm:cxn modelId="{80655AEA-674C-6649-A939-A33115DD24E1}" type="presParOf" srcId="{8BC4C51B-847A-274E-9183-F53A6361CC9A}" destId="{CBA3A523-CEFF-8D47-AB98-0E113D181495}" srcOrd="3" destOrd="0" presId="urn:microsoft.com/office/officeart/2005/8/layout/hChevron3"/>
    <dgm:cxn modelId="{477A7CA4-5891-BA46-98A0-B7EF5BD6CDDE}" type="presParOf" srcId="{8BC4C51B-847A-274E-9183-F53A6361CC9A}" destId="{FEC69EBE-1F2C-7445-A444-B6A98CCE2B1C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4BC40-810B-3D43-B06C-771D7098C298}">
      <dsp:nvSpPr>
        <dsp:cNvPr id="0" name=""/>
        <dsp:cNvSpPr/>
      </dsp:nvSpPr>
      <dsp:spPr>
        <a:xfrm>
          <a:off x="3571" y="2084652"/>
          <a:ext cx="3123406" cy="12493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Phase 1: Baseline Benchmarking (Clean Prompts)</a:t>
          </a:r>
        </a:p>
      </dsp:txBody>
      <dsp:txXfrm>
        <a:off x="3571" y="2084652"/>
        <a:ext cx="2811066" cy="1249362"/>
      </dsp:txXfrm>
    </dsp:sp>
    <dsp:sp modelId="{DB81DC6C-484F-A240-8D58-A6D87FCD3070}">
      <dsp:nvSpPr>
        <dsp:cNvPr id="0" name=""/>
        <dsp:cNvSpPr/>
      </dsp:nvSpPr>
      <dsp:spPr>
        <a:xfrm>
          <a:off x="2502296" y="2084652"/>
          <a:ext cx="3123406" cy="12493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Phase 2: Noise Robustness Evaluation.</a:t>
          </a:r>
        </a:p>
      </dsp:txBody>
      <dsp:txXfrm>
        <a:off x="3126977" y="2084652"/>
        <a:ext cx="1874044" cy="1249362"/>
      </dsp:txXfrm>
    </dsp:sp>
    <dsp:sp modelId="{FEC69EBE-1F2C-7445-A444-B6A98CCE2B1C}">
      <dsp:nvSpPr>
        <dsp:cNvPr id="0" name=""/>
        <dsp:cNvSpPr/>
      </dsp:nvSpPr>
      <dsp:spPr>
        <a:xfrm>
          <a:off x="5001021" y="2084652"/>
          <a:ext cx="3123406" cy="12493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Phase 3: Noise-Aware Fine-Tuning</a:t>
          </a:r>
        </a:p>
      </dsp:txBody>
      <dsp:txXfrm>
        <a:off x="5625702" y="2084652"/>
        <a:ext cx="1874044" cy="124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43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B142-2DAE-6E6D-0932-D335AE26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6283B-DE46-EA4C-217F-B0988C04A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5A38A-5C31-4226-FD9A-1D1FE4178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E1BF-9D48-4545-F2CA-ABEEEF104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13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69E7-623B-1CFE-1AE1-D210C138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C118E-F876-AD6A-9FC6-6B8D7291C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6A676-E2E2-E3D3-FCBA-101809D5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A1372-D279-8CC4-651D-14CD84C1B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0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4BF1-88A0-0F94-1ABB-5E0DF7B5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1D03C-DA00-D1AF-AD49-EBDA44AC4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431E7-9E08-91CE-8B10-FAACBA039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5AC9D-1E06-61B7-0870-CC98158F2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74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B856-712D-DBFD-5570-F4D2473F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81685-7E79-4458-8CDD-5DAEACE85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37BD2-5CBC-EC11-4CB8-2D0D239A4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61AA3-5ADF-03A7-DBA1-097800498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57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18D2-8D13-DF8B-AFAC-6ED87DC4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7932D-3059-9336-57DB-E0A79F2DB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A18C4-FD54-CAFE-7EE8-6B7813359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DB4C2-C331-B75E-735C-371D0206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07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31AF-CCE4-8E5C-9546-B3BF1BFC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B005D-EAAA-7C4F-3634-4D4CFA363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4A3F9-D9EC-2F58-EA34-933CF28C6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3E1C2-230A-39E2-D255-152DA6E80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22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6EE8-5C9D-D185-E6AC-B3E3A551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CE1D0-321F-B3CB-B736-4786CE091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214B3-51EA-6D82-C8BC-7D04D9B13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52A9A-0262-904E-658C-DC503DAB4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3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F341-C236-9033-7D6C-F3D2F1E9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D6D1E-767F-3CC3-4179-73DE9D3C3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93E0E-EB9E-A0E7-89E9-AA7BC962F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20CB-B4A1-A9E5-1BC0-35B3C7256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78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78F8-D687-B9D8-D2AC-7E3EDF21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5B8FC-2E7E-5EF3-952B-223932328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E42B4-F7E7-79C1-E1B6-A33EE2804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E6FB3-27E1-5A9C-C446-A18444EC6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67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59D3-1BB8-81BB-8DAC-B61811D5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F4AA1-070C-BFBC-3D90-C6C1724EF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2FF55-12A2-732D-68A0-F2BA7D56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694CC-66AC-2893-E8BF-1737222C7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96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42DC-CCC5-65C8-2911-C9223AC2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206D3-2EBC-1B75-422A-DA6EA10E1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D262D-314B-54C6-73E0-45F62039D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9C1EC-4586-A642-7E9F-4D25D03A7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98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AD8B-C41B-BA00-A648-1BD9358E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4E782-39B7-A063-2CEF-BC14E691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A9A11-5362-C93E-249B-D1FBCEB56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48B2F-5D9A-EC0A-8A29-38ABC9DC8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6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7901-D3E7-175E-E1F5-25A424AC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DFD06-0532-CDA4-F4E7-3BEFFC802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D0805-C714-8670-C36B-B494F603A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EF8A-2A90-ACA0-86C3-B66BC324C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96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CF8D-A675-325F-6463-E01A37E1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3BCE0-C223-C10B-FDFF-8B6E8D5B9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751CD-9218-41E2-0E0A-63B550405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525C-5632-A976-FFAE-47AE621C1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8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83AC-C5B4-21E9-A8B1-2CBF2E7B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F079F-5311-2550-F8DD-D035C2BE4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D9A52-9B5C-0901-ED93-7699D7A36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B734A-0DE9-F173-B054-0EDC1A783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61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9E198-2BC4-BEEB-CDD1-4C4F4D3D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6254A-D8B3-00C6-CAF9-183F95B73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130C5-F36A-3421-2209-906C83148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CAF27-5A2B-F3B5-561F-548E9EB4D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735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9E98B-CBB7-8550-7169-662E47FD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55FAA-91D6-50C6-5E20-6F4DE7A46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C2F1F-63AD-52C4-0B5B-85E373624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DB609-09D3-B43C-42C7-4755FD85D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43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334C-6633-2E05-710A-18CFAF6F5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EE8E5-EBAF-8F0B-9472-1BEEA8F4A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6FA6A-DF43-F243-0C1C-E99CD3906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E0E99-2C8C-B302-CAA0-22A64D80F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1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1189-ED61-0073-2A98-1C2391BE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B5FE5-E843-F713-5FE0-C2A92B18C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65C4F-7CF4-1930-DE7C-8A321C9AD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7B19F-580E-FDB7-AF3E-1E84CEA2D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397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83272-C75D-9DAD-18CC-9D1AD614A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18E8C-6104-7C33-D238-EDC96DF43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FA27A-EB8E-43AE-1F61-B286D2036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C26B3-4C5E-30AF-FF8B-7E11A1458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98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27D64-AEE9-974D-21DF-369C3F6E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A6EBF-23D3-8A79-6005-26DB78E1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F938B-A6A8-BDEF-413A-8712F9E8B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1459-91DF-4D10-0BA9-3B2B80F21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102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BDE1-311C-2CF6-D86D-9B41405A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F527E-DD90-0592-269A-5E0C7DD3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90E9D-A272-1C22-AF7F-839489628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7A004-EBD2-0455-BB72-64A5160CE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939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6D06-F402-4F54-2B04-487500A4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A95EA-27F4-A9B1-AE7E-BCD52CCD3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B4EAA-E7A3-671F-6150-99930BAF2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EBCAC-037E-F700-A447-3F3FE6DD3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97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43C8-0F70-35F6-6204-28A4E412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4EFB-D59E-D588-DF9C-A507B5C04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0E326-7213-D20B-48B0-C50CDE585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827A0-434F-424B-625B-9DE6E6892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886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88FF-D611-52C5-E4BA-69D9772B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17FA3-8084-5EFB-4D10-136FF2EFF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7D90D-48B9-6BDE-5197-FA08ECD7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BF56F-11BA-6920-59BC-E43C1B205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9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4DD5-9499-852C-6E1B-7D2486BA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304EF-A88E-2068-A432-3DED111F2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0FB1A-D167-BD1B-1FC3-043983B53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9F9B0-E977-5B8C-ACC0-C16C74C0F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000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38B72-0921-B8C0-6AC1-72261542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C879F-8F97-6A2A-FF80-F88D89F18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B2386-9510-BF75-23A1-AEF59C1B8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1E147-6E1A-512D-67A2-F87F4D84F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54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3686-D1E3-FFF8-E809-7CAA9A9F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B4834-0323-9421-F007-8794C46FF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5EE22-0010-E35C-385E-E1BC25F21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4AEB9-E056-A76D-80A4-9822936C6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671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48F92-A593-1251-FC08-6B96FF4C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73D17-2F04-F565-3591-6B74A1FF5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3799D-AD11-3F20-0E88-8E2B644E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BD4F1-DF45-37F3-31A9-0B9402ACB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11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F6835-4C5C-E797-1F2B-F74ED4FF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B6DCD-085A-396F-C850-2BADDCD9F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9660B-8A58-231E-A23D-19BF0A2FD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720C8-1E9E-C362-7C23-E7E855E23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5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87A7-8084-D246-BFD5-DB43B3225BB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F5BF-D12A-A24E-84E0-061B737D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9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  <p:sldLayoutId id="214748369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02" y="2184703"/>
            <a:ext cx="10268796" cy="5253089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</a:rPr>
              <a:t>Enhancing Robustness to Prompt Variations in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Vision Language Models: A Comprehensive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Evaluation of CLIP, </a:t>
            </a:r>
            <a:r>
              <a:rPr lang="en-US" sz="3600" dirty="0" err="1">
                <a:solidFill>
                  <a:schemeClr val="tx1"/>
                </a:solidFill>
              </a:rPr>
              <a:t>SigLIP</a:t>
            </a:r>
            <a:r>
              <a:rPr lang="en-US" sz="3600" dirty="0">
                <a:solidFill>
                  <a:schemeClr val="tx1"/>
                </a:solidFill>
              </a:rPr>
              <a:t>, and </a:t>
            </a:r>
            <a:r>
              <a:rPr lang="en-US" sz="3600" dirty="0" err="1">
                <a:solidFill>
                  <a:schemeClr val="tx1"/>
                </a:solidFill>
              </a:rPr>
              <a:t>CoOp</a:t>
            </a:r>
            <a:r>
              <a:rPr lang="en-US" sz="3600" dirty="0">
                <a:solidFill>
                  <a:schemeClr val="tx1"/>
                </a:solidFill>
              </a:rPr>
              <a:t> under Noisy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Prompts with </a:t>
            </a:r>
            <a:r>
              <a:rPr lang="en-US" sz="3600" dirty="0" err="1">
                <a:solidFill>
                  <a:schemeClr val="tx1"/>
                </a:solidFill>
              </a:rPr>
              <a:t>Ensembling</a:t>
            </a:r>
            <a:r>
              <a:rPr lang="en-US" sz="3600" dirty="0">
                <a:solidFill>
                  <a:schemeClr val="tx1"/>
                </a:solidFill>
              </a:rPr>
              <a:t> Strategies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Presented by:</a:t>
            </a:r>
            <a:br>
              <a:rPr lang="en-US" sz="27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7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Aishah </a:t>
            </a:r>
            <a:r>
              <a:rPr lang="en-US" sz="27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Altamimi</a:t>
            </a:r>
            <a:b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CEE95-00A1-D1E2-2870-5C7B83212120}"/>
              </a:ext>
            </a:extLst>
          </p:cNvPr>
          <p:cNvSpPr txBox="1"/>
          <p:nvPr/>
        </p:nvSpPr>
        <p:spPr>
          <a:xfrm>
            <a:off x="445168" y="64368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Baseline Models &amp; Challenges</a:t>
            </a:r>
          </a:p>
          <a:p>
            <a:r>
              <a:rPr lang="en-US" dirty="0"/>
              <a:t>Proposed Enhancements</a:t>
            </a:r>
          </a:p>
          <a:p>
            <a:r>
              <a:rPr lang="en-US" dirty="0"/>
              <a:t>Algorithm </a:t>
            </a:r>
          </a:p>
          <a:p>
            <a:r>
              <a:rPr lang="en-US" dirty="0"/>
              <a:t>Loss Functions</a:t>
            </a:r>
          </a:p>
          <a:p>
            <a:r>
              <a:rPr lang="en-US" dirty="0"/>
              <a:t>Datasets &amp; Preprocessing </a:t>
            </a:r>
          </a:p>
          <a:p>
            <a:r>
              <a:rPr lang="en-US" dirty="0"/>
              <a:t>Performance Metrix</a:t>
            </a:r>
          </a:p>
          <a:p>
            <a:r>
              <a:rPr lang="en-US" dirty="0"/>
              <a:t>Experiment Setup</a:t>
            </a:r>
          </a:p>
          <a:p>
            <a:r>
              <a:rPr lang="en-US" dirty="0"/>
              <a:t>Results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3511-9D2C-CCE3-141C-6D8FB299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6DF2-17AA-8289-FFDB-9C0102E6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9A98-1F48-9AF7-6BDE-AD7EF072ED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6" y="1791223"/>
            <a:ext cx="5753432" cy="45629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itchFamily="2" charset="0"/>
              </a:rPr>
              <a:t>VLMs are models learn to match images with text prompts rather than class names </a:t>
            </a:r>
            <a:r>
              <a:rPr lang="en-US" dirty="0"/>
              <a:t>into a shared space, then compare their similarity.</a:t>
            </a:r>
          </a:p>
          <a:p>
            <a:pPr>
              <a:lnSpc>
                <a:spcPct val="150000"/>
              </a:lnSpc>
            </a:pPr>
            <a:r>
              <a:rPr lang="en-US" dirty="0"/>
              <a:t> Because they depend on text templates like </a:t>
            </a:r>
            <a:r>
              <a:rPr lang="en-US" b="1" dirty="0">
                <a:solidFill>
                  <a:srgbClr val="00B050"/>
                </a:solidFill>
              </a:rPr>
              <a:t>‘a photo of a {class}’, </a:t>
            </a:r>
            <a:r>
              <a:rPr lang="en-US" dirty="0"/>
              <a:t>the wording of the prompt strongly affects predictions. </a:t>
            </a:r>
          </a:p>
          <a:p>
            <a:pPr>
              <a:lnSpc>
                <a:spcPct val="150000"/>
              </a:lnSpc>
            </a:pPr>
            <a:r>
              <a:rPr lang="en-US" dirty="0"/>
              <a:t>This motivates the need to study how prompt variations influence accuracy.</a:t>
            </a:r>
            <a:endParaRPr lang="en-US" dirty="0"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2537-B5E8-C546-ECF4-95D113A7FE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E5DE4F9-A45E-B2D1-F1B5-27C7E347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62"/>
          <a:stretch/>
        </p:blipFill>
        <p:spPr>
          <a:xfrm>
            <a:off x="7426528" y="1791224"/>
            <a:ext cx="4089284" cy="34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77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6E2F8-2FC2-8362-0302-E0C9DA63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5842-6BD4-2204-90DE-85C3D381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065" y="279048"/>
            <a:ext cx="9150675" cy="1427585"/>
          </a:xfrm>
        </p:spPr>
        <p:txBody>
          <a:bodyPr/>
          <a:lstStyle/>
          <a:p>
            <a:r>
              <a:rPr lang="en-US" dirty="0"/>
              <a:t>Baseline Models (Literature Review)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D6C7-EB6F-9AB5-0CA0-FD23F53544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6" y="1706633"/>
            <a:ext cx="5434374" cy="4590928"/>
          </a:xfrm>
        </p:spPr>
        <p:txBody>
          <a:bodyPr vert="horz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/>
              <a:t>CLIP </a:t>
            </a:r>
          </a:p>
          <a:p>
            <a:r>
              <a:rPr lang="en-US" sz="2600" dirty="0"/>
              <a:t>uses manually written prompts </a:t>
            </a:r>
          </a:p>
          <a:p>
            <a:r>
              <a:rPr lang="en-US" sz="2600" b="1" dirty="0" err="1">
                <a:solidFill>
                  <a:srgbClr val="0070C0"/>
                </a:solidFill>
              </a:rPr>
              <a:t>Softmax</a:t>
            </a:r>
            <a:r>
              <a:rPr lang="en-US" sz="2600" b="1" dirty="0">
                <a:solidFill>
                  <a:srgbClr val="0070C0"/>
                </a:solidFill>
              </a:rPr>
              <a:t>-based contrastive loss</a:t>
            </a:r>
            <a:r>
              <a:rPr lang="en-US" sz="2600" dirty="0"/>
              <a:t>. 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600" b="1" dirty="0" err="1"/>
              <a:t>SigLIP</a:t>
            </a:r>
            <a:r>
              <a:rPr lang="en-US" sz="2600" b="1" dirty="0"/>
              <a:t> </a:t>
            </a:r>
          </a:p>
          <a:p>
            <a:r>
              <a:rPr lang="en-US" sz="2600" b="1" dirty="0">
                <a:solidFill>
                  <a:srgbClr val="0070C0"/>
                </a:solidFill>
              </a:rPr>
              <a:t>Replaces the </a:t>
            </a:r>
            <a:r>
              <a:rPr lang="en-US" sz="2600" b="1" dirty="0" err="1">
                <a:solidFill>
                  <a:srgbClr val="0070C0"/>
                </a:solidFill>
              </a:rPr>
              <a:t>softmax</a:t>
            </a:r>
            <a:r>
              <a:rPr lang="en-US" sz="2600" b="1" dirty="0">
                <a:solidFill>
                  <a:srgbClr val="0070C0"/>
                </a:solidFill>
              </a:rPr>
              <a:t> with a sigmoid pairwise loss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600" b="1" dirty="0" err="1"/>
              <a:t>CoOp</a:t>
            </a:r>
            <a:r>
              <a:rPr lang="en-US" sz="2600" b="1" dirty="0"/>
              <a:t> </a:t>
            </a:r>
          </a:p>
          <a:p>
            <a:r>
              <a:rPr lang="en-US" sz="2600" dirty="0" err="1"/>
              <a:t>CoOp</a:t>
            </a:r>
            <a:r>
              <a:rPr lang="en-US" sz="2600" dirty="0"/>
              <a:t> built on CLIP by learning continuous prompt vectors rather than relying on human-written prompts. </a:t>
            </a:r>
          </a:p>
          <a:p>
            <a:r>
              <a:rPr lang="en-US" sz="2600" dirty="0"/>
              <a:t>This make it stronger to wording changes.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endParaRPr lang="en-US" sz="20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95F4B-1B8C-4678-1E0A-31A13FFFB4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diagram of a plane&#10;&#10;Description automatically generated">
            <a:extLst>
              <a:ext uri="{FF2B5EF4-FFF2-40B4-BE49-F238E27FC236}">
                <a16:creationId xmlns:a16="http://schemas.microsoft.com/office/drawing/2014/main" id="{7ECADE29-9B24-567F-A74B-6020414D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335" y="2439020"/>
            <a:ext cx="5774666" cy="243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02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830EC-8A04-6721-9969-7E1BFF97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DA86-A4CD-BA39-AAC0-F2C40013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Literature Review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706AB-49D8-FB55-0B2E-B1E5109AB23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706633"/>
            <a:ext cx="10172367" cy="388300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[4</a:t>
            </a:r>
            <a:r>
              <a:rPr lang="en-US" sz="2800" u="sng" dirty="0">
                <a:effectLst/>
                <a:latin typeface="Helvetica" pitchFamily="2" charset="0"/>
              </a:rPr>
              <a:t>Test-Time </a:t>
            </a:r>
            <a:r>
              <a:rPr lang="en-US" sz="2800" u="sng" dirty="0" err="1">
                <a:effectLst/>
                <a:latin typeface="Helvetica" pitchFamily="2" charset="0"/>
              </a:rPr>
              <a:t>Ensembling</a:t>
            </a:r>
            <a:r>
              <a:rPr lang="en-US" sz="2800" u="sng" dirty="0">
                <a:effectLst/>
                <a:latin typeface="Helvetica" pitchFamily="2" charset="0"/>
              </a:rPr>
              <a:t> (TTE)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Helvetica" pitchFamily="2" charset="0"/>
              </a:rPr>
              <a:t>The approach works by creating multiple versions of the same input </a:t>
            </a:r>
            <a:r>
              <a:rPr lang="en-US" sz="2800" dirty="0">
                <a:effectLst/>
                <a:latin typeface="Helvetica" pitchFamily="2" charset="0"/>
                <a:sym typeface="Wingdings" pitchFamily="2" charset="2"/>
              </a:rPr>
              <a:t> </a:t>
            </a:r>
            <a:r>
              <a:rPr lang="en-US" sz="2800" dirty="0">
                <a:effectLst/>
                <a:latin typeface="Helvetica" pitchFamily="2" charset="0"/>
              </a:rPr>
              <a:t>running the model on each version --&gt;  combining the predictions during test 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Helvetica" pitchFamily="2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i="1" dirty="0"/>
          </a:p>
          <a:p>
            <a:pPr marL="0" indent="0">
              <a:buNone/>
            </a:pP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6DF53-2651-F94C-F515-6FE5CD3C10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2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AA31C-31A2-FA6D-1B08-1B53A426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A1E3-1290-9251-DBD6-EA9EAA43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262487"/>
            <a:ext cx="9150675" cy="1427585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E066-A8A1-F10A-99BE-4A7ED79157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365949"/>
            <a:ext cx="10172367" cy="5143140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In real applications like image search or educational tools, users write prompts with typos, informal phrasing, or emojis. 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Models must handle these variations, but current VLMs often fail under such noise.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Goal is to </a:t>
            </a:r>
            <a:r>
              <a:rPr lang="en-US" sz="2400" dirty="0">
                <a:latin typeface="Helvetica" pitchFamily="2" charset="0"/>
              </a:rPr>
              <a:t>Systematically evaluate the robustness of </a:t>
            </a:r>
            <a:r>
              <a:rPr lang="en-US" sz="2400" b="1" dirty="0">
                <a:latin typeface="Helvetica" pitchFamily="2" charset="0"/>
              </a:rPr>
              <a:t>CLIP</a:t>
            </a:r>
            <a:r>
              <a:rPr lang="en-US" sz="2400" dirty="0">
                <a:latin typeface="Helvetica" pitchFamily="2" charset="0"/>
              </a:rPr>
              <a:t>, </a:t>
            </a:r>
            <a:r>
              <a:rPr lang="en-US" sz="2400" b="1" dirty="0" err="1">
                <a:latin typeface="Helvetica" pitchFamily="2" charset="0"/>
              </a:rPr>
              <a:t>SigLIP</a:t>
            </a:r>
            <a:r>
              <a:rPr lang="en-US" sz="2400" dirty="0">
                <a:latin typeface="Helvetica" pitchFamily="2" charset="0"/>
              </a:rPr>
              <a:t>, and </a:t>
            </a:r>
            <a:r>
              <a:rPr lang="en-US" sz="2400" b="1" dirty="0" err="1">
                <a:latin typeface="Helvetica" pitchFamily="2" charset="0"/>
              </a:rPr>
              <a:t>CoOp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under different types of noisy prompts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Helvetica" pitchFamily="2" charset="0"/>
              </a:rPr>
              <a:t>Explore techniques such as prompt Test time </a:t>
            </a:r>
            <a:r>
              <a:rPr lang="en-US" sz="2400" b="1" dirty="0" err="1">
                <a:latin typeface="Helvetica" pitchFamily="2" charset="0"/>
              </a:rPr>
              <a:t>ensembling</a:t>
            </a:r>
            <a:r>
              <a:rPr lang="en-US" sz="2400" dirty="0">
                <a:latin typeface="Helvetica" pitchFamily="2" charset="0"/>
              </a:rPr>
              <a:t> and </a:t>
            </a:r>
            <a:r>
              <a:rPr lang="en-US" sz="2400" b="1" dirty="0">
                <a:latin typeface="Helvetica" pitchFamily="2" charset="0"/>
              </a:rPr>
              <a:t>noise-aware adapter training </a:t>
            </a:r>
            <a:r>
              <a:rPr lang="en-US" sz="2400" dirty="0">
                <a:latin typeface="Helvetica" pitchFamily="2" charset="0"/>
              </a:rPr>
              <a:t>to improve their reliability in real-world user scenarios.</a:t>
            </a:r>
            <a:endParaRPr lang="en-US" sz="2800" dirty="0"/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6B3D3-E38D-9D6C-6205-74CA5ADAA3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FDA93-6B1C-6F55-0CC8-1B24E502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6A71-EE3D-5781-861C-35CC6A79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Datasets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FEB5-28BC-B8B5-D7DF-41DCEFC22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54A8F0-6E57-A416-B579-43EB63BC115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83114527"/>
              </p:ext>
            </p:extLst>
          </p:nvPr>
        </p:nvGraphicFramePr>
        <p:xfrm>
          <a:off x="1381119" y="1965696"/>
          <a:ext cx="9345498" cy="3292103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57583">
                  <a:extLst>
                    <a:ext uri="{9D8B030D-6E8A-4147-A177-3AD203B41FA5}">
                      <a16:colId xmlns:a16="http://schemas.microsoft.com/office/drawing/2014/main" val="2940398969"/>
                    </a:ext>
                  </a:extLst>
                </a:gridCol>
                <a:gridCol w="1557583">
                  <a:extLst>
                    <a:ext uri="{9D8B030D-6E8A-4147-A177-3AD203B41FA5}">
                      <a16:colId xmlns:a16="http://schemas.microsoft.com/office/drawing/2014/main" val="3142402435"/>
                    </a:ext>
                  </a:extLst>
                </a:gridCol>
                <a:gridCol w="1557583">
                  <a:extLst>
                    <a:ext uri="{9D8B030D-6E8A-4147-A177-3AD203B41FA5}">
                      <a16:colId xmlns:a16="http://schemas.microsoft.com/office/drawing/2014/main" val="3743613020"/>
                    </a:ext>
                  </a:extLst>
                </a:gridCol>
                <a:gridCol w="1557583">
                  <a:extLst>
                    <a:ext uri="{9D8B030D-6E8A-4147-A177-3AD203B41FA5}">
                      <a16:colId xmlns:a16="http://schemas.microsoft.com/office/drawing/2014/main" val="3749327550"/>
                    </a:ext>
                  </a:extLst>
                </a:gridCol>
                <a:gridCol w="1557583">
                  <a:extLst>
                    <a:ext uri="{9D8B030D-6E8A-4147-A177-3AD203B41FA5}">
                      <a16:colId xmlns:a16="http://schemas.microsoft.com/office/drawing/2014/main" val="4126963607"/>
                    </a:ext>
                  </a:extLst>
                </a:gridCol>
                <a:gridCol w="1557583">
                  <a:extLst>
                    <a:ext uri="{9D8B030D-6E8A-4147-A177-3AD203B41FA5}">
                      <a16:colId xmlns:a16="http://schemas.microsoft.com/office/drawing/2014/main" val="1195734075"/>
                    </a:ext>
                  </a:extLst>
                </a:gridCol>
              </a:tblGrid>
              <a:tr h="336873">
                <a:tc>
                  <a:txBody>
                    <a:bodyPr/>
                    <a:lstStyle/>
                    <a:p>
                      <a:r>
                        <a:rPr lang="en-US" sz="1500" b="1"/>
                        <a:t>Dataset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Domain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Classes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Images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Resolution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Description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1418439437"/>
                  </a:ext>
                </a:extLst>
              </a:tr>
              <a:tr h="591046">
                <a:tc>
                  <a:txBody>
                    <a:bodyPr/>
                    <a:lstStyle/>
                    <a:p>
                      <a:r>
                        <a:rPr lang="en-US" sz="1500" b="1"/>
                        <a:t>Oxford-IIIT Pets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Animals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37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7,349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300×300+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Cat &amp; dog breeds</a:t>
                      </a:r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2318014285"/>
                  </a:ext>
                </a:extLst>
              </a:tr>
              <a:tr h="591046">
                <a:tc>
                  <a:txBody>
                    <a:bodyPr/>
                    <a:lstStyle/>
                    <a:p>
                      <a:r>
                        <a:rPr lang="en-US" sz="1500" b="1"/>
                        <a:t>Caltech-101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Objects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101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9,144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300×200+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Object categories</a:t>
                      </a:r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3638329023"/>
                  </a:ext>
                </a:extLst>
              </a:tr>
              <a:tr h="591046">
                <a:tc>
                  <a:txBody>
                    <a:bodyPr/>
                    <a:lstStyle/>
                    <a:p>
                      <a:r>
                        <a:rPr lang="en-US" sz="1500" b="1"/>
                        <a:t>Food-101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Food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101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101,000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512×512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Food recognition</a:t>
                      </a:r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410709256"/>
                  </a:ext>
                </a:extLst>
              </a:tr>
              <a:tr h="591046">
                <a:tc>
                  <a:txBody>
                    <a:bodyPr/>
                    <a:lstStyle/>
                    <a:p>
                      <a:r>
                        <a:rPr lang="en-US" sz="1500" b="1"/>
                        <a:t>DTD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Textures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47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5,640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300×300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Texture attributes</a:t>
                      </a:r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2618934578"/>
                  </a:ext>
                </a:extLst>
              </a:tr>
              <a:tr h="591046">
                <a:tc>
                  <a:txBody>
                    <a:bodyPr/>
                    <a:lstStyle/>
                    <a:p>
                      <a:r>
                        <a:rPr lang="en-US" sz="1500" b="1"/>
                        <a:t>EuroSAT</a:t>
                      </a:r>
                      <a:endParaRPr lang="en-US" sz="1500"/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Satellite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10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27,000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64×64</a:t>
                      </a:r>
                    </a:p>
                  </a:txBody>
                  <a:tcPr marL="74378" marR="74378" marT="37189" marB="37189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Land-cover classification</a:t>
                      </a:r>
                    </a:p>
                  </a:txBody>
                  <a:tcPr marL="74378" marR="74378" marT="37189" marB="37189" anchor="ctr"/>
                </a:tc>
                <a:extLst>
                  <a:ext uri="{0D108BD9-81ED-4DB2-BD59-A6C34878D82A}">
                    <a16:rowId xmlns:a16="http://schemas.microsoft.com/office/drawing/2014/main" val="38793272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4A1A8B-2805-6527-80A4-BECAB94929C6}"/>
              </a:ext>
            </a:extLst>
          </p:cNvPr>
          <p:cNvSpPr txBox="1"/>
          <p:nvPr/>
        </p:nvSpPr>
        <p:spPr>
          <a:xfrm>
            <a:off x="1236313" y="5646262"/>
            <a:ext cx="101531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Oxford Pets, Caltech-101, and Food-101 match typical web images, while DTD and </a:t>
            </a:r>
          </a:p>
          <a:p>
            <a:r>
              <a:rPr lang="en-US" sz="2000" dirty="0" err="1">
                <a:latin typeface="Helvetica" pitchFamily="2" charset="0"/>
              </a:rPr>
              <a:t>EuroSAT</a:t>
            </a:r>
            <a:r>
              <a:rPr lang="en-US" sz="2000" dirty="0">
                <a:latin typeface="Helvetica" pitchFamily="2" charset="0"/>
              </a:rPr>
              <a:t> represent domain-shifted data that differ significantly from natural web images </a:t>
            </a:r>
          </a:p>
          <a:p>
            <a:r>
              <a:rPr lang="en-US" sz="2000" dirty="0">
                <a:latin typeface="Helvetica" pitchFamily="2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Key Findings in this research </a:t>
            </a:r>
            <a:r>
              <a:rPr lang="en-US" sz="2000" dirty="0">
                <a:latin typeface="Helvetica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67633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DC60A-7E7D-0AAF-B737-9BA484F4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A1FAC-5764-40A0-DB96-2A9F164F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Loss Functions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DA39B-06A5-5AD5-9118-FEDF4DD99B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5B8461-BF92-F844-65D1-34C1E801FF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673409"/>
            <a:ext cx="8621298" cy="4680739"/>
          </a:xfrm>
        </p:spPr>
        <p:txBody>
          <a:bodyPr>
            <a:normAutofit/>
          </a:bodyPr>
          <a:lstStyle/>
          <a:p>
            <a:r>
              <a:rPr lang="en-US" b="1" dirty="0"/>
              <a:t>CLIP — </a:t>
            </a:r>
            <a:r>
              <a:rPr lang="en-US" b="1" dirty="0" err="1"/>
              <a:t>Softmax</a:t>
            </a:r>
            <a:r>
              <a:rPr lang="en-US" b="1" dirty="0"/>
              <a:t> Contrastive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 </a:t>
            </a:r>
            <a:r>
              <a:rPr lang="en-US" b="1" dirty="0"/>
              <a:t>global </a:t>
            </a:r>
            <a:r>
              <a:rPr lang="en-US" b="1" dirty="0" err="1"/>
              <a:t>softmax</a:t>
            </a:r>
            <a:r>
              <a:rPr lang="en-US" dirty="0"/>
              <a:t> over all image–text pairs in the batch.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each image to match its correct text more than all other texts.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 err="1"/>
              <a:t>SigLIP</a:t>
            </a:r>
            <a:r>
              <a:rPr lang="en-US" b="1" dirty="0"/>
              <a:t> — Sigmoid Pairwise Contrastive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Replaces </a:t>
            </a:r>
            <a:r>
              <a:rPr lang="en-US" dirty="0" err="1"/>
              <a:t>softmax</a:t>
            </a:r>
            <a:r>
              <a:rPr lang="en-US" dirty="0"/>
              <a:t> with </a:t>
            </a:r>
            <a:r>
              <a:rPr lang="en-US" b="1" dirty="0"/>
              <a:t>independent sigmoid pairwise comparisons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image–text pair is evaluated separately.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1BC0C-D7A7-0A74-1635-28CAAB5B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EF18-97C9-7829-F9CD-74A2419B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Loss Functions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5FBDD-964A-B8D7-9C23-A54F1992D0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1FCBB1-FFD6-C1D4-C51A-F32820FE85D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673409"/>
            <a:ext cx="8621298" cy="46807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Noise-Aware Adapter Training</a:t>
            </a:r>
          </a:p>
          <a:p>
            <a:r>
              <a:rPr lang="en-US" dirty="0"/>
              <a:t>we use cross-entropy plus a consistency loss to force clean and noisy prompts to produce similar predictions.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Adapter is trained using </a:t>
            </a:r>
            <a:r>
              <a:rPr lang="en-US" b="1" dirty="0"/>
              <a:t>clean + noisy prompts</a:t>
            </a:r>
            <a:r>
              <a:rPr lang="en-US" dirty="0"/>
              <a:t> with </a:t>
            </a:r>
            <a:r>
              <a:rPr lang="en-US" b="1" dirty="0"/>
              <a:t>K=5 </a:t>
            </a:r>
            <a:r>
              <a:rPr lang="en-US" b="1" dirty="0" err="1"/>
              <a:t>ensembling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Optimization objective:</a:t>
            </a:r>
            <a:endParaRPr lang="en-US" b="1" dirty="0"/>
          </a:p>
          <a:p>
            <a:r>
              <a:rPr lang="en-US" dirty="0"/>
              <a:t>As we show CLIP an image + a </a:t>
            </a:r>
            <a:r>
              <a:rPr lang="en-US" b="1" dirty="0"/>
              <a:t>clean prompt</a:t>
            </a:r>
            <a:r>
              <a:rPr lang="en-US" dirty="0"/>
              <a:t> and an image + a </a:t>
            </a:r>
            <a:r>
              <a:rPr lang="en-US" b="1" dirty="0"/>
              <a:t>noisy prompt</a:t>
            </a:r>
            <a:r>
              <a:rPr lang="en-US" dirty="0"/>
              <a:t> </a:t>
            </a:r>
          </a:p>
          <a:p>
            <a:r>
              <a:rPr lang="en-US" dirty="0"/>
              <a:t>Cross-entropy makes each one predict the </a:t>
            </a:r>
            <a:r>
              <a:rPr lang="en-US" b="1" dirty="0"/>
              <a:t>correct class</a:t>
            </a:r>
            <a:r>
              <a:rPr lang="en-US" dirty="0"/>
              <a:t>.</a:t>
            </a:r>
          </a:p>
          <a:p>
            <a:r>
              <a:rPr lang="en-US" b="1" dirty="0"/>
              <a:t>Consistency loss</a:t>
            </a:r>
            <a:r>
              <a:rPr lang="en-US" dirty="0"/>
              <a:t> adds an extra rule: “The prediction for the clean prompt and the prediction for the noisy prompt must be </a:t>
            </a:r>
            <a:r>
              <a:rPr lang="en-US" b="1" dirty="0"/>
              <a:t>similar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 descr="A black and white math symbols&#10;&#10;Description automatically generated with medium confidence">
            <a:extLst>
              <a:ext uri="{FF2B5EF4-FFF2-40B4-BE49-F238E27FC236}">
                <a16:creationId xmlns:a16="http://schemas.microsoft.com/office/drawing/2014/main" id="{D93EA086-A7A8-9081-2BF7-5538AB09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0" y="2832100"/>
            <a:ext cx="28067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0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E50CA-BD04-AB11-C930-7E21AA28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E11D-D80C-D2B5-3731-04DAB91F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Experimental Framework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CA8B3-439B-D2D0-0AA7-E57CAD25D3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1649" y="2393906"/>
            <a:ext cx="10172367" cy="3087226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1CEF4-3BE8-D9E2-D257-B99C31317D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9D898F0-9077-EA99-E850-B7F0B62314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848036"/>
              </p:ext>
            </p:extLst>
          </p:nvPr>
        </p:nvGraphicFramePr>
        <p:xfrm>
          <a:off x="2173832" y="117684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0223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49F69-32A3-EB34-865C-DBDFD1D8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B7FB-7F16-A9A3-B4A9-0D6DE926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1: Baseline Benchmarking (Clean Prompts)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09FC-4920-70EC-32CB-87C557462D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172367" cy="4254497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r>
              <a:rPr lang="en-US" dirty="0"/>
              <a:t>Evaluate </a:t>
            </a:r>
            <a:r>
              <a:rPr lang="en-US" b="1" dirty="0"/>
              <a:t>CLIP</a:t>
            </a:r>
            <a:r>
              <a:rPr lang="en-US" dirty="0"/>
              <a:t>, </a:t>
            </a:r>
            <a:r>
              <a:rPr lang="en-US" b="1" dirty="0" err="1"/>
              <a:t>SigLIP</a:t>
            </a:r>
            <a:r>
              <a:rPr lang="en-US" dirty="0"/>
              <a:t>, and </a:t>
            </a:r>
            <a:r>
              <a:rPr lang="en-US" b="1" dirty="0" err="1"/>
              <a:t>CoOp</a:t>
            </a:r>
            <a:r>
              <a:rPr lang="en-US" dirty="0"/>
              <a:t> using </a:t>
            </a:r>
            <a:r>
              <a:rPr lang="en-US" i="1" dirty="0"/>
              <a:t>clean</a:t>
            </a:r>
            <a:r>
              <a:rPr lang="en-US" dirty="0"/>
              <a:t> prompts.</a:t>
            </a:r>
          </a:p>
          <a:p>
            <a:r>
              <a:rPr lang="en-US" dirty="0"/>
              <a:t>Five datasets: </a:t>
            </a:r>
            <a:r>
              <a:rPr lang="en-US" b="1" dirty="0"/>
              <a:t>Oxford Pets, Caltech101, Food101, DTD, </a:t>
            </a:r>
            <a:r>
              <a:rPr lang="en-US" b="1" dirty="0" err="1"/>
              <a:t>EuroSAT</a:t>
            </a:r>
            <a:r>
              <a:rPr lang="en-US" dirty="0"/>
              <a:t>.</a:t>
            </a:r>
          </a:p>
          <a:p>
            <a:r>
              <a:rPr lang="en-US" dirty="0"/>
              <a:t>Train/Val/Test split: </a:t>
            </a:r>
            <a:r>
              <a:rPr lang="en-US" b="1" dirty="0"/>
              <a:t>50% / 20% / 30%</a:t>
            </a:r>
            <a:r>
              <a:rPr lang="en-US" dirty="0"/>
              <a:t>.</a:t>
            </a:r>
          </a:p>
          <a:p>
            <a:r>
              <a:rPr lang="en-US" dirty="0"/>
              <a:t>Metrics: </a:t>
            </a:r>
            <a:r>
              <a:rPr lang="en-US" b="1" dirty="0"/>
              <a:t>Accuracy</a:t>
            </a:r>
            <a:r>
              <a:rPr lang="en-US" dirty="0"/>
              <a:t>, </a:t>
            </a:r>
            <a:r>
              <a:rPr lang="en-US" b="1" dirty="0"/>
              <a:t>Error Rate</a:t>
            </a:r>
            <a:r>
              <a:rPr lang="en-US" dirty="0"/>
              <a:t>, </a:t>
            </a:r>
            <a:r>
              <a:rPr lang="en-US" b="1" dirty="0"/>
              <a:t>Macro-F1</a:t>
            </a:r>
            <a:r>
              <a:rPr lang="en-US" dirty="0"/>
              <a:t>.</a:t>
            </a:r>
          </a:p>
          <a:p>
            <a:r>
              <a:rPr lang="en-US" dirty="0"/>
              <a:t>Purpose: Establish a clean-performance baseline before adding noise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448E2-9264-8689-2301-3F2B24160F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25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88222-A84C-ADA1-2361-60E5D137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9AFE-2D82-922B-9B2D-2E8C6ACA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1: Baseline Benchmarking (Clean Prompts)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0630-60BD-BD1E-EFF6-D6AA9E90B24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172367" cy="4254497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861D9-0AB4-5886-4F2E-39C9E824808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B616D6-5398-8C8D-5926-700E826BE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226447"/>
              </p:ext>
            </p:extLst>
          </p:nvPr>
        </p:nvGraphicFramePr>
        <p:xfrm>
          <a:off x="1796722" y="4507173"/>
          <a:ext cx="9009845" cy="21945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01969">
                  <a:extLst>
                    <a:ext uri="{9D8B030D-6E8A-4147-A177-3AD203B41FA5}">
                      <a16:colId xmlns:a16="http://schemas.microsoft.com/office/drawing/2014/main" val="990173656"/>
                    </a:ext>
                  </a:extLst>
                </a:gridCol>
                <a:gridCol w="1801969">
                  <a:extLst>
                    <a:ext uri="{9D8B030D-6E8A-4147-A177-3AD203B41FA5}">
                      <a16:colId xmlns:a16="http://schemas.microsoft.com/office/drawing/2014/main" val="295035248"/>
                    </a:ext>
                  </a:extLst>
                </a:gridCol>
                <a:gridCol w="1801969">
                  <a:extLst>
                    <a:ext uri="{9D8B030D-6E8A-4147-A177-3AD203B41FA5}">
                      <a16:colId xmlns:a16="http://schemas.microsoft.com/office/drawing/2014/main" val="1527512225"/>
                    </a:ext>
                  </a:extLst>
                </a:gridCol>
                <a:gridCol w="1801969">
                  <a:extLst>
                    <a:ext uri="{9D8B030D-6E8A-4147-A177-3AD203B41FA5}">
                      <a16:colId xmlns:a16="http://schemas.microsoft.com/office/drawing/2014/main" val="172603914"/>
                    </a:ext>
                  </a:extLst>
                </a:gridCol>
                <a:gridCol w="1801969">
                  <a:extLst>
                    <a:ext uri="{9D8B030D-6E8A-4147-A177-3AD203B41FA5}">
                      <a16:colId xmlns:a16="http://schemas.microsoft.com/office/drawing/2014/main" val="1335120951"/>
                    </a:ext>
                  </a:extLst>
                </a:gridCol>
              </a:tblGrid>
              <a:tr h="303504">
                <a:tc>
                  <a:txBody>
                    <a:bodyPr/>
                    <a:lstStyle/>
                    <a:p>
                      <a:r>
                        <a:rPr lang="en-US" b="1"/>
                        <a:t>Dataset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CLIP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CoOp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Gain over CLIP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SigLIP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863285"/>
                  </a:ext>
                </a:extLst>
              </a:tr>
              <a:tr h="358547">
                <a:tc>
                  <a:txBody>
                    <a:bodyPr/>
                    <a:lstStyle/>
                    <a:p>
                      <a:r>
                        <a:rPr lang="en-US"/>
                        <a:t>Oxford Pets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91.1%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+4.9%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405704"/>
                  </a:ext>
                </a:extLst>
              </a:tr>
              <a:tr h="358547">
                <a:tc>
                  <a:txBody>
                    <a:bodyPr/>
                    <a:lstStyle/>
                    <a:p>
                      <a:r>
                        <a:rPr lang="en-US"/>
                        <a:t>Caltech101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93.4%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+1.4%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74.05%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015345"/>
                  </a:ext>
                </a:extLst>
              </a:tr>
              <a:tr h="358547">
                <a:tc>
                  <a:txBody>
                    <a:bodyPr/>
                    <a:lstStyle/>
                    <a:p>
                      <a:r>
                        <a:rPr lang="en-US"/>
                        <a:t>Food101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78.2%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+1.8%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030765"/>
                  </a:ext>
                </a:extLst>
              </a:tr>
              <a:tr h="358547">
                <a:tc>
                  <a:txBody>
                    <a:bodyPr/>
                    <a:lstStyle/>
                    <a:p>
                      <a:r>
                        <a:rPr lang="en-US"/>
                        <a:t>DTD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+20.5%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49.93%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989912"/>
                  </a:ext>
                </a:extLst>
              </a:tr>
              <a:tr h="358547">
                <a:tc>
                  <a:txBody>
                    <a:bodyPr/>
                    <a:lstStyle/>
                    <a:p>
                      <a:r>
                        <a:rPr lang="en-US"/>
                        <a:t>EuroSAT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+28.2%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0709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63F8B6-644A-6DEF-EC13-A4650655196C}"/>
              </a:ext>
            </a:extLst>
          </p:cNvPr>
          <p:cNvSpPr txBox="1"/>
          <p:nvPr/>
        </p:nvSpPr>
        <p:spPr>
          <a:xfrm>
            <a:off x="1134065" y="1931437"/>
            <a:ext cx="10798855" cy="2347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CoOp</a:t>
            </a:r>
            <a:r>
              <a:rPr lang="en-US" sz="2000" b="1" dirty="0"/>
              <a:t> performs best on most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SigLIP</a:t>
            </a:r>
            <a:r>
              <a:rPr lang="en-US" sz="2000" b="1" dirty="0"/>
              <a:t> Better than CLIP in domain shift datasets (their </a:t>
            </a:r>
            <a:r>
              <a:rPr lang="en-US" sz="2000" dirty="0">
                <a:latin typeface="Helvetica" pitchFamily="2" charset="0"/>
              </a:rPr>
              <a:t>data that differ significantly from natural web images) However the CLIP is better than </a:t>
            </a:r>
            <a:r>
              <a:rPr lang="en-US" sz="2000" dirty="0" err="1">
                <a:latin typeface="Helvetica" pitchFamily="2" charset="0"/>
              </a:rPr>
              <a:t>SigLIP</a:t>
            </a:r>
            <a:r>
              <a:rPr lang="en-US" sz="2000" dirty="0">
                <a:latin typeface="Helvetica" pitchFamily="2" charset="0"/>
              </a:rPr>
              <a:t> on other datasets</a:t>
            </a:r>
            <a:r>
              <a:rPr lang="en-US" sz="2000" b="1" dirty="0"/>
              <a:t>. (</a:t>
            </a:r>
            <a:r>
              <a:rPr lang="en-US" sz="2000" b="1" dirty="0">
                <a:solidFill>
                  <a:srgbClr val="C00000"/>
                </a:solidFill>
              </a:rPr>
              <a:t>First Key Finding in this research</a:t>
            </a:r>
            <a:r>
              <a:rPr lang="en-US" sz="2000" b="1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 These baselines allow us to measure how much accuracy drops once noise is added.</a:t>
            </a:r>
          </a:p>
        </p:txBody>
      </p:sp>
    </p:spTree>
    <p:extLst>
      <p:ext uri="{BB962C8B-B14F-4D97-AF65-F5344CB8AC3E}">
        <p14:creationId xmlns:p14="http://schemas.microsoft.com/office/powerpoint/2010/main" val="425058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FEC71-E39A-FCA8-F625-DAE3A35B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094C-A1C0-AB83-C7AD-943E9B10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1: Baseline Benchmarking (Clean Prompts)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88DD-DD3D-DCA6-21B0-B71E832552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172367" cy="4254497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9B4B1-9E47-8A79-7F5B-A48687AF90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469C52E9-407F-E700-82CE-2F5CDEEB2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488" y="1931437"/>
            <a:ext cx="8805520" cy="425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5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FF559-DCCA-A283-8A88-149D178B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FBAB-8EAE-11A0-0E46-DA7BEC7C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2: Noise Robustness Evaluation: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6A14D-0452-7ADD-1EFE-3F07F70F1B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788304" cy="533829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r>
              <a:rPr lang="en-US" dirty="0" err="1"/>
              <a:t>Purpuse</a:t>
            </a:r>
            <a:r>
              <a:rPr lang="en-US" dirty="0"/>
              <a:t>: Measure how accuracy drops across noise levels and whether </a:t>
            </a:r>
            <a:r>
              <a:rPr lang="en-US" dirty="0" err="1"/>
              <a:t>ensembling</a:t>
            </a:r>
            <a:r>
              <a:rPr lang="en-US" dirty="0"/>
              <a:t> helps recover performance.</a:t>
            </a:r>
          </a:p>
          <a:p>
            <a:r>
              <a:rPr lang="en-US" dirty="0"/>
              <a:t>Evaluate CLIP, </a:t>
            </a:r>
            <a:r>
              <a:rPr lang="en-US" dirty="0" err="1"/>
              <a:t>SigLIP</a:t>
            </a:r>
            <a:r>
              <a:rPr lang="en-US" dirty="0"/>
              <a:t>, and </a:t>
            </a:r>
            <a:r>
              <a:rPr lang="en-US" dirty="0" err="1"/>
              <a:t>CoOp</a:t>
            </a:r>
            <a:r>
              <a:rPr lang="en-US" dirty="0"/>
              <a:t> under </a:t>
            </a:r>
            <a:r>
              <a:rPr lang="en-US" b="1" dirty="0"/>
              <a:t>corrupted prompts</a:t>
            </a:r>
            <a:r>
              <a:rPr lang="en-US" dirty="0"/>
              <a:t>.</a:t>
            </a:r>
          </a:p>
          <a:p>
            <a:r>
              <a:rPr lang="en-US" dirty="0"/>
              <a:t>Build a </a:t>
            </a:r>
            <a:r>
              <a:rPr lang="en-US" b="1" dirty="0"/>
              <a:t>Noise Prompt Bank</a:t>
            </a:r>
            <a:r>
              <a:rPr lang="en-US" dirty="0"/>
              <a:t> using four noise types:</a:t>
            </a:r>
          </a:p>
          <a:p>
            <a:pPr lvl="1"/>
            <a:r>
              <a:rPr lang="en-US" b="1" dirty="0"/>
              <a:t>Typos , Letter-case changes, Extra spaces, Emoji insertions</a:t>
            </a:r>
            <a:endParaRPr lang="en-US" dirty="0"/>
          </a:p>
          <a:p>
            <a:r>
              <a:rPr lang="en-US" dirty="0"/>
              <a:t>Noise severity levels: </a:t>
            </a:r>
            <a:r>
              <a:rPr lang="en-US" b="1" dirty="0"/>
              <a:t>0 (clean) → 3 (heavy corruption)</a:t>
            </a:r>
            <a:endParaRPr lang="en-US" dirty="0"/>
          </a:p>
          <a:p>
            <a:r>
              <a:rPr lang="en-US" dirty="0"/>
              <a:t>Three test-time strategies:</a:t>
            </a:r>
          </a:p>
          <a:p>
            <a:pPr lvl="1"/>
            <a:r>
              <a:rPr lang="en-US" b="1" dirty="0"/>
              <a:t>K = 1:</a:t>
            </a:r>
            <a:r>
              <a:rPr lang="en-US" dirty="0"/>
              <a:t> single noisy prompt</a:t>
            </a:r>
          </a:p>
          <a:p>
            <a:pPr lvl="1"/>
            <a:r>
              <a:rPr lang="en-US" b="1" dirty="0"/>
              <a:t>K = 5 + Clean:</a:t>
            </a:r>
            <a:r>
              <a:rPr lang="en-US" dirty="0"/>
              <a:t> 5 noisy prompts + 1 clean prompt</a:t>
            </a:r>
          </a:p>
          <a:p>
            <a:pPr lvl="1"/>
            <a:r>
              <a:rPr lang="en-US" b="1" dirty="0"/>
              <a:t>K = 5 No-Clean:</a:t>
            </a:r>
            <a:r>
              <a:rPr lang="en-US" dirty="0"/>
              <a:t> 5 noisy prompts only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3752B-1C8C-9284-2C76-31A80BFFA5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9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5FEFC-590C-B1AF-1B8B-AAE5DA54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12CF-C9FD-4959-DF5A-F603B8A7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Noise Bank Creation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83B0-8458-0D64-4CE7-D0A3EEA63A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F7E2-7309-2351-2DCE-EF83BA8DEC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A screenshot of a chat&#10;&#10;Description automatically generated">
            <a:extLst>
              <a:ext uri="{FF2B5EF4-FFF2-40B4-BE49-F238E27FC236}">
                <a16:creationId xmlns:a16="http://schemas.microsoft.com/office/drawing/2014/main" id="{18DA560B-8157-ADF3-4651-EE814C7D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19" y="1705948"/>
            <a:ext cx="7366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1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861B6-FA60-DB47-20F2-EB36337C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F256-97E3-D86E-C5A2-432DDA29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Noise Bank Creation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6AC-F28E-58C4-DBC2-A46275D019A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581D2-713F-4958-2125-943BBD46EF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698EFF25-CA51-4275-FE29-A9274CF7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206" y="1931437"/>
            <a:ext cx="4826000" cy="1752600"/>
          </a:xfrm>
          <a:prstGeom prst="rect">
            <a:avLst/>
          </a:prstGeom>
        </p:spPr>
      </p:pic>
      <p:pic>
        <p:nvPicPr>
          <p:cNvPr id="9" name="Picture 8" descr="A screenshot of a chat&#10;&#10;Description automatically generated">
            <a:extLst>
              <a:ext uri="{FF2B5EF4-FFF2-40B4-BE49-F238E27FC236}">
                <a16:creationId xmlns:a16="http://schemas.microsoft.com/office/drawing/2014/main" id="{2F653A4A-E89D-1356-4FB2-BAE814816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33" y="3869257"/>
            <a:ext cx="49657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2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7A0CE-76D9-4782-EC6A-DB8FEBC8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50AA-4F06-7580-D161-9731B9E2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Noise Bank Creation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228C2-9EED-4A2A-2080-248F815E09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9DB9A-DFD7-1B55-EAF7-D4398DAFDB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7569C-35AF-253C-13B9-8A81868C7D2F}"/>
              </a:ext>
            </a:extLst>
          </p:cNvPr>
          <p:cNvSpPr txBox="1"/>
          <p:nvPr/>
        </p:nvSpPr>
        <p:spPr>
          <a:xfrm>
            <a:off x="885568" y="1502688"/>
            <a:ext cx="112156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/>
              <a:t>Prompt template</a:t>
            </a:r>
            <a:r>
              <a:rPr lang="en-US" sz="2400" b="1" dirty="0"/>
              <a:t>: Each class is inserted into a fixed template, e.g.</a:t>
            </a:r>
            <a:br>
              <a:rPr lang="en-US" sz="2400" b="1" dirty="0"/>
            </a:br>
            <a:r>
              <a:rPr lang="en-US" sz="2400" b="1" dirty="0"/>
              <a:t>“a photo of a {class}” → “a photo of a </a:t>
            </a:r>
            <a:r>
              <a:rPr lang="en-US" sz="2400" b="1" dirty="0" err="1"/>
              <a:t>siamese</a:t>
            </a:r>
            <a:r>
              <a:rPr lang="en-US" sz="2400" b="1" dirty="0"/>
              <a:t> cat”.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u="sng" dirty="0"/>
              <a:t>Noise injection</a:t>
            </a:r>
            <a:r>
              <a:rPr lang="en-US" sz="2400" b="1" dirty="0"/>
              <a:t>: We then corrupt the class name using one or more  noise operators (typo, case, space, emoji).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5A11C-4B21-EECD-73B3-BAF66EF1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EEF3D-742B-10A6-24FF-2227A10B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Noise Bank Creation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F059-A5FF-DCFD-BA8C-578BC1F732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ACBFE-ACCC-3AC8-2C67-F2A23A8966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73FF5-F7EC-45FB-366E-3BCDCF143544}"/>
              </a:ext>
            </a:extLst>
          </p:cNvPr>
          <p:cNvSpPr txBox="1"/>
          <p:nvPr/>
        </p:nvSpPr>
        <p:spPr>
          <a:xfrm>
            <a:off x="885568" y="1502688"/>
            <a:ext cx="112156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u="sng" dirty="0"/>
              <a:t>Severity levels (0–3):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0: clean prompt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dirty="0"/>
              <a:t> </a:t>
            </a:r>
            <a:r>
              <a:rPr lang="en-US" sz="2400" dirty="0"/>
              <a:t>a photo of a </a:t>
            </a:r>
            <a:r>
              <a:rPr lang="en-US" sz="2400" dirty="0" err="1"/>
              <a:t>siamese</a:t>
            </a:r>
            <a:r>
              <a:rPr lang="en-US" sz="2400" dirty="0"/>
              <a:t> cat</a:t>
            </a:r>
            <a:endParaRPr lang="en-US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1: </a:t>
            </a:r>
            <a:r>
              <a:rPr lang="en-US" sz="2400" dirty="0"/>
              <a:t>Apply </a:t>
            </a:r>
            <a:r>
              <a:rPr lang="en-US" sz="2400" b="1" dirty="0"/>
              <a:t>one</a:t>
            </a:r>
            <a:r>
              <a:rPr lang="en-US" sz="2400" dirty="0"/>
              <a:t> noise operator</a:t>
            </a:r>
            <a:r>
              <a:rPr lang="en-US" sz="2400" b="1" dirty="0"/>
              <a:t> </a:t>
            </a:r>
            <a:r>
              <a:rPr lang="en-US" sz="2400" b="1" dirty="0">
                <a:sym typeface="Wingdings" pitchFamily="2" charset="2"/>
              </a:rPr>
              <a:t> </a:t>
            </a:r>
            <a:r>
              <a:rPr lang="en-US" sz="2400" b="1" dirty="0"/>
              <a:t> </a:t>
            </a:r>
            <a:r>
              <a:rPr lang="en-US" sz="2400" dirty="0"/>
              <a:t>“a photo of a </a:t>
            </a:r>
            <a:r>
              <a:rPr lang="en-US" sz="2400" dirty="0" err="1"/>
              <a:t>siamse</a:t>
            </a:r>
            <a:r>
              <a:rPr lang="en-US" sz="2400" dirty="0"/>
              <a:t> cat” (one typo)</a:t>
            </a:r>
            <a:endParaRPr lang="en-US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2: T</a:t>
            </a:r>
            <a:r>
              <a:rPr lang="en-US" sz="2400" dirty="0"/>
              <a:t>wo different noise operators</a:t>
            </a:r>
            <a:r>
              <a:rPr lang="en-US" sz="2400" b="1" dirty="0"/>
              <a:t> </a:t>
            </a:r>
            <a:r>
              <a:rPr lang="en-US" sz="2400" b="1" dirty="0">
                <a:sym typeface="Wingdings" pitchFamily="2" charset="2"/>
              </a:rPr>
              <a:t> </a:t>
            </a:r>
            <a:r>
              <a:rPr lang="en-US" sz="2400" dirty="0"/>
              <a:t>“A photo of a </a:t>
            </a:r>
            <a:r>
              <a:rPr lang="en-US" sz="2400" dirty="0" err="1"/>
              <a:t>siamse</a:t>
            </a:r>
            <a:r>
              <a:rPr lang="en-US" sz="2400" dirty="0"/>
              <a:t> cat✨”</a:t>
            </a:r>
            <a:br>
              <a:rPr lang="en-US" sz="2400" dirty="0"/>
            </a:br>
            <a:r>
              <a:rPr lang="en-US" sz="2400" dirty="0"/>
              <a:t>(typo + emoji)</a:t>
            </a:r>
            <a:endParaRPr lang="en-US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3: </a:t>
            </a:r>
            <a:r>
              <a:rPr lang="en-US" sz="2400" dirty="0"/>
              <a:t>Apply </a:t>
            </a:r>
            <a:r>
              <a:rPr lang="en-US" sz="2400" b="1" dirty="0"/>
              <a:t>three or more noise operators (strong distortions to the text) </a:t>
            </a: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dirty="0"/>
              <a:t>“A </a:t>
            </a:r>
            <a:r>
              <a:rPr lang="en-US" sz="2400" dirty="0" err="1"/>
              <a:t>poto</a:t>
            </a:r>
            <a:r>
              <a:rPr lang="en-US" sz="2400" dirty="0"/>
              <a:t> of a </a:t>
            </a:r>
            <a:r>
              <a:rPr lang="en-US" sz="2400" dirty="0" err="1"/>
              <a:t>siamse</a:t>
            </a:r>
            <a:r>
              <a:rPr lang="en-US" sz="2400" dirty="0"/>
              <a:t> cat✨📌”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11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82D71-2789-A961-F2C6-80BB5F88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C046-4EBA-1E0C-5560-32A6D3F3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pPr lvl="0"/>
            <a:r>
              <a:rPr lang="en-US" sz="3600" dirty="0"/>
              <a:t>Phase 2: 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CAAFF-44B1-B619-9302-FB6D0CCB87E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4053839"/>
            <a:ext cx="10172367" cy="267340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21262-74ED-E444-6F84-5148D4137D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9" name="Picture 8" descr="A paper with text and images&#10;&#10;Description automatically generated">
            <a:extLst>
              <a:ext uri="{FF2B5EF4-FFF2-40B4-BE49-F238E27FC236}">
                <a16:creationId xmlns:a16="http://schemas.microsoft.com/office/drawing/2014/main" id="{D34B8323-89B9-20A9-8AAA-D9FBFBFD57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219"/>
          <a:stretch/>
        </p:blipFill>
        <p:spPr>
          <a:xfrm>
            <a:off x="7166320" y="1770493"/>
            <a:ext cx="3938953" cy="4833646"/>
          </a:xfrm>
          <a:prstGeom prst="rect">
            <a:avLst/>
          </a:prstGeom>
        </p:spPr>
      </p:pic>
      <p:pic>
        <p:nvPicPr>
          <p:cNvPr id="5" name="Picture 4" descr="A paper with text and images&#10;&#10;Description automatically generated">
            <a:extLst>
              <a:ext uri="{FF2B5EF4-FFF2-40B4-BE49-F238E27FC236}">
                <a16:creationId xmlns:a16="http://schemas.microsoft.com/office/drawing/2014/main" id="{B7F0A3DB-F568-B482-16D9-7018B95C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904"/>
          <a:stretch/>
        </p:blipFill>
        <p:spPr>
          <a:xfrm>
            <a:off x="2341465" y="2961097"/>
            <a:ext cx="4191475" cy="3393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6F067-84D1-5DF7-4DF5-25F9D7A41233}"/>
              </a:ext>
            </a:extLst>
          </p:cNvPr>
          <p:cNvSpPr txBox="1"/>
          <p:nvPr/>
        </p:nvSpPr>
        <p:spPr>
          <a:xfrm>
            <a:off x="1336100" y="1629041"/>
            <a:ext cx="5659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evaluate each model across all noise types, all severity levels, all ensemble strategies, and all datasets. This gives a complete robustness profile.</a:t>
            </a:r>
          </a:p>
        </p:txBody>
      </p:sp>
    </p:spTree>
    <p:extLst>
      <p:ext uri="{BB962C8B-B14F-4D97-AF65-F5344CB8AC3E}">
        <p14:creationId xmlns:p14="http://schemas.microsoft.com/office/powerpoint/2010/main" val="4049678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C5F29-5F89-F9CC-B9C9-577BA5F6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6D46-48D7-38C1-452C-2DBBC799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pPr lvl="0"/>
            <a:r>
              <a:rPr lang="en-US" sz="3600" dirty="0"/>
              <a:t>Phase 2: Performance Metrics - Accuracy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08E22-7F8F-85D6-9504-66E67DB94E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32B40-D01D-7122-5782-60EC499AA1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853557-4CE4-4EB3-B15D-A5DD1A234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77" y="1669827"/>
            <a:ext cx="6932585" cy="32816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7360F9-25B2-E9DD-4433-4230EE51953B}"/>
              </a:ext>
            </a:extLst>
          </p:cNvPr>
          <p:cNvSpPr txBox="1"/>
          <p:nvPr/>
        </p:nvSpPr>
        <p:spPr>
          <a:xfrm>
            <a:off x="1529861" y="5249913"/>
            <a:ext cx="65838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Repeated for Each </a:t>
            </a:r>
            <a:r>
              <a:rPr lang="en-US" b="1" dirty="0"/>
              <a:t>severity level</a:t>
            </a:r>
            <a:r>
              <a:rPr lang="en-US" dirty="0"/>
              <a:t> (0, 1, 2, 3)</a:t>
            </a:r>
          </a:p>
          <a:p>
            <a:r>
              <a:rPr lang="en-US" dirty="0"/>
              <a:t>Each </a:t>
            </a:r>
            <a:r>
              <a:rPr lang="en-US" b="1" dirty="0"/>
              <a:t>ensemble setting</a:t>
            </a:r>
            <a:r>
              <a:rPr lang="en-US" dirty="0"/>
              <a:t> (K=1, K=5, K=5+Clean, K=5 No Clean)</a:t>
            </a:r>
          </a:p>
          <a:p>
            <a:r>
              <a:rPr lang="en-US" dirty="0"/>
              <a:t>Each </a:t>
            </a:r>
            <a:r>
              <a:rPr lang="en-US" b="1" dirty="0"/>
              <a:t>model</a:t>
            </a:r>
            <a:r>
              <a:rPr lang="en-US" dirty="0"/>
              <a:t> (CLIP, </a:t>
            </a:r>
            <a:r>
              <a:rPr lang="en-US" dirty="0" err="1"/>
              <a:t>SigLIP</a:t>
            </a:r>
            <a:r>
              <a:rPr lang="en-US" dirty="0"/>
              <a:t>, </a:t>
            </a:r>
            <a:r>
              <a:rPr lang="en-US" dirty="0" err="1"/>
              <a:t>CoOp</a:t>
            </a:r>
            <a:r>
              <a:rPr lang="en-US" dirty="0"/>
              <a:t>)</a:t>
            </a:r>
          </a:p>
          <a:p>
            <a:r>
              <a:rPr lang="en-US" dirty="0"/>
              <a:t>Each </a:t>
            </a:r>
            <a:r>
              <a:rPr lang="en-US" b="1" dirty="0"/>
              <a:t>dataset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5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68C27-765A-C973-AA79-D7BF28CF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D466-0E95-717F-1543-A96C746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pPr lvl="0"/>
            <a:r>
              <a:rPr lang="en-US" sz="3600" dirty="0"/>
              <a:t>Phase 2: Evaluation Metrics – Other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37A55-F414-3BA0-ED5F-FEDFA5BF7E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C3BA-581F-574E-9F23-5558B15DD8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F8BD6-611A-6068-682A-5FAF9249DB91}"/>
              </a:ext>
            </a:extLst>
          </p:cNvPr>
          <p:cNvSpPr txBox="1"/>
          <p:nvPr/>
        </p:nvSpPr>
        <p:spPr>
          <a:xfrm>
            <a:off x="1381119" y="1773744"/>
            <a:ext cx="82376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Absolute Accuracy Drop (</a:t>
            </a:r>
            <a:r>
              <a:rPr lang="el-GR" b="1" dirty="0"/>
              <a:t>Δ):</a:t>
            </a:r>
            <a:br>
              <a:rPr lang="el-GR" dirty="0"/>
            </a:br>
            <a:r>
              <a:rPr lang="en-US" dirty="0"/>
              <a:t>Measures how much accuracy decreases due to noise:</a:t>
            </a:r>
            <a:br>
              <a:rPr lang="en-US" dirty="0"/>
            </a:br>
            <a:r>
              <a:rPr lang="el-GR" b="1" dirty="0"/>
              <a:t>Δ = </a:t>
            </a:r>
            <a:r>
              <a:rPr lang="en-US" b="1" dirty="0" err="1"/>
              <a:t>Acc_clean</a:t>
            </a:r>
            <a:r>
              <a:rPr lang="en-US" b="1" dirty="0"/>
              <a:t> − </a:t>
            </a:r>
            <a:r>
              <a:rPr lang="en-US" b="1" dirty="0" err="1"/>
              <a:t>Acc_noisy</a:t>
            </a:r>
            <a:endParaRPr lang="en-US" b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Relative Robustness (RR):</a:t>
            </a:r>
            <a:br>
              <a:rPr lang="en-US" dirty="0"/>
            </a:br>
            <a:r>
              <a:rPr lang="en-US" dirty="0"/>
              <a:t>How much of the clean accuracy is retained under noise:</a:t>
            </a:r>
            <a:br>
              <a:rPr lang="en-US" dirty="0"/>
            </a:br>
            <a:r>
              <a:rPr lang="en-US" b="1" dirty="0"/>
              <a:t>RR = (</a:t>
            </a:r>
            <a:r>
              <a:rPr lang="en-US" b="1" dirty="0" err="1"/>
              <a:t>Acc_noisy</a:t>
            </a:r>
            <a:r>
              <a:rPr lang="en-US" b="1" dirty="0"/>
              <a:t> / </a:t>
            </a:r>
            <a:r>
              <a:rPr lang="en-US" b="1" dirty="0" err="1"/>
              <a:t>Acc_clean</a:t>
            </a:r>
            <a:r>
              <a:rPr lang="en-US" b="1" dirty="0"/>
              <a:t>) × 100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Relative Accuracy Drop (RAD):</a:t>
            </a:r>
            <a:br>
              <a:rPr lang="en-US" dirty="0"/>
            </a:br>
            <a:r>
              <a:rPr lang="en-US" dirty="0"/>
              <a:t>Noise-induced degradation relative to clean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b="1" dirty="0"/>
              <a:t>RAD = ((</a:t>
            </a:r>
            <a:r>
              <a:rPr lang="en-US" b="1" dirty="0" err="1"/>
              <a:t>Acc_clean</a:t>
            </a:r>
            <a:r>
              <a:rPr lang="en-US" b="1" dirty="0"/>
              <a:t> − </a:t>
            </a:r>
            <a:r>
              <a:rPr lang="en-US" b="1" dirty="0" err="1"/>
              <a:t>Acc_noisy</a:t>
            </a:r>
            <a:r>
              <a:rPr lang="en-US" b="1" dirty="0"/>
              <a:t>) / </a:t>
            </a:r>
            <a:r>
              <a:rPr lang="en-US" b="1" dirty="0" err="1"/>
              <a:t>Acc_clean</a:t>
            </a:r>
            <a:r>
              <a:rPr lang="en-US" b="1" dirty="0"/>
              <a:t>) × 100</a:t>
            </a:r>
            <a:br>
              <a:rPr lang="en-US" dirty="0"/>
            </a:br>
            <a:r>
              <a:rPr lang="en-US" i="1" dirty="0"/>
              <a:t>(RR and RAD are complementary: RR = 100 − RAD)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Ensemble Gain (</a:t>
            </a:r>
            <a:r>
              <a:rPr lang="el-GR" b="1" dirty="0"/>
              <a:t>Δ</a:t>
            </a:r>
            <a:r>
              <a:rPr lang="en-US" b="1" dirty="0"/>
              <a:t>ₑₙₛ):</a:t>
            </a:r>
            <a:br>
              <a:rPr lang="en-US" dirty="0"/>
            </a:br>
            <a:r>
              <a:rPr lang="en-US" dirty="0"/>
              <a:t>Improvement from prompt </a:t>
            </a:r>
            <a:r>
              <a:rPr lang="en-US" dirty="0" err="1"/>
              <a:t>ensembling</a:t>
            </a:r>
            <a:r>
              <a:rPr lang="en-US" dirty="0"/>
              <a:t>:</a:t>
            </a:r>
            <a:br>
              <a:rPr lang="en-US" dirty="0"/>
            </a:br>
            <a:r>
              <a:rPr lang="el-GR" b="1" dirty="0"/>
              <a:t>Δ</a:t>
            </a:r>
            <a:r>
              <a:rPr lang="en-US" b="1" dirty="0"/>
              <a:t>ₑₙₛ = </a:t>
            </a:r>
            <a:r>
              <a:rPr lang="en-US" b="1" dirty="0" err="1"/>
              <a:t>Acc_ensemble</a:t>
            </a:r>
            <a:r>
              <a:rPr lang="en-US" b="1" dirty="0"/>
              <a:t> − </a:t>
            </a:r>
            <a:r>
              <a:rPr lang="en-US" b="1" dirty="0" err="1"/>
              <a:t>Acc_single</a:t>
            </a:r>
            <a:r>
              <a:rPr lang="en-US" b="1" dirty="0"/>
              <a:t>-prompt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86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CC4F1-C7A7-959B-D140-DD0CBD68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159C-5673-4A11-FB9D-5652CC9D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CLIP Robustness Results (All Datasets)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D7DA-E86D-2AF4-0437-7FB0876F42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788304" cy="533829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dirty="0"/>
              <a:t>Strong degradation</a:t>
            </a:r>
            <a:r>
              <a:rPr lang="en-US" dirty="0"/>
              <a:t> as noise severity increases.</a:t>
            </a:r>
          </a:p>
          <a:p>
            <a:r>
              <a:rPr lang="en-US" b="1" dirty="0"/>
              <a:t>Prompt </a:t>
            </a:r>
            <a:r>
              <a:rPr lang="en-US" b="1" dirty="0" err="1"/>
              <a:t>ensembling</a:t>
            </a:r>
            <a:r>
              <a:rPr lang="en-US" b="1" dirty="0"/>
              <a:t> (K=5 + Clean)</a:t>
            </a:r>
            <a:r>
              <a:rPr lang="en-US" dirty="0"/>
              <a:t> consistently boosts accuracy. (</a:t>
            </a:r>
            <a:r>
              <a:rPr lang="en-US" b="1" dirty="0">
                <a:solidFill>
                  <a:srgbClr val="C00000"/>
                </a:solidFill>
              </a:rPr>
              <a:t>Second Finding in this research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EA019-8CFA-190B-D0C1-F4D8C69841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D370E3-3F7F-B0FA-34C4-369AFD2CA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964404"/>
              </p:ext>
            </p:extLst>
          </p:nvPr>
        </p:nvGraphicFramePr>
        <p:xfrm>
          <a:off x="1270417" y="3429000"/>
          <a:ext cx="105156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858366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48742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31537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17764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3936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58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87.4%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5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K=5+Clean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87.4%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84.9%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74.5%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68.8%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89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K=5 No Clean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87.4%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75.2%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57.8%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23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755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9F36F-71F7-750D-1D8D-2418041A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BBCA-9ABF-ABEB-4F37-9E176AEC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r>
              <a:rPr lang="en-US" sz="3200" dirty="0"/>
              <a:t>CLIP Ensemble Strategy on Oxford Dataset</a:t>
            </a:r>
            <a:br>
              <a:rPr lang="en-US" sz="16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F490-C955-7FF2-7C86-449F1DCEAF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788304" cy="533829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DA51-65D1-E959-2360-984F956B8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 descr="A graph of a chart&#10;&#10;Description automatically generated with medium confidence">
            <a:extLst>
              <a:ext uri="{FF2B5EF4-FFF2-40B4-BE49-F238E27FC236}">
                <a16:creationId xmlns:a16="http://schemas.microsoft.com/office/drawing/2014/main" id="{6D544692-619B-3575-41E9-53C1EB3D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292" y="2037520"/>
            <a:ext cx="7665415" cy="413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E834F-3D2D-86DE-75B9-F0360F99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C08B-9A28-70D2-0B85-EBECBCFE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r>
              <a:rPr lang="en-US" sz="3200" dirty="0"/>
              <a:t>CLIP Robustness across All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5918-C250-6001-F2F7-62ED4C6E9A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2042160"/>
            <a:ext cx="10788304" cy="4815840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FE920-56D8-A840-8EED-A6B60FEC69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9" name="Picture 8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EDCE56DD-74E7-6AE3-5C64-8D0A6391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07" y="2193924"/>
            <a:ext cx="8366186" cy="4664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A09661-74B4-532E-DF5F-C9ECB037FEFC}"/>
              </a:ext>
            </a:extLst>
          </p:cNvPr>
          <p:cNvSpPr txBox="1"/>
          <p:nvPr/>
        </p:nvSpPr>
        <p:spPr>
          <a:xfrm>
            <a:off x="1381119" y="1760035"/>
            <a:ext cx="7135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Datasets with domain shift (DTD, </a:t>
            </a:r>
            <a:r>
              <a:rPr lang="en-US" dirty="0" err="1"/>
              <a:t>EuroSAT</a:t>
            </a:r>
            <a:r>
              <a:rPr lang="en-US" dirty="0"/>
              <a:t>) show </a:t>
            </a:r>
            <a:r>
              <a:rPr lang="en-US" b="1" dirty="0"/>
              <a:t>significant drops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07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1CBB6-353F-5A73-6D80-3D5DDC3C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080B-61A8-5B7E-3D60-BE247E7B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 err="1"/>
              <a:t>SigLIP</a:t>
            </a:r>
            <a:r>
              <a:rPr lang="en-US" sz="3200" dirty="0"/>
              <a:t> Robustness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3018B-F8BF-BA6C-82F0-434EF4C5AA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519707"/>
            <a:ext cx="10788304" cy="533829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Accuracy sometimes </a:t>
            </a:r>
            <a:r>
              <a:rPr lang="en-US" b="1" dirty="0"/>
              <a:t>improves</a:t>
            </a:r>
            <a:r>
              <a:rPr lang="en-US" dirty="0"/>
              <a:t> when using noisy prompts (regularization effect).</a:t>
            </a: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95833-2608-8976-C23D-5E248FBF5E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457B9FF-E0AA-DFE0-E211-86CB66060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003486"/>
              </p:ext>
            </p:extLst>
          </p:nvPr>
        </p:nvGraphicFramePr>
        <p:xfrm>
          <a:off x="1381119" y="3205999"/>
          <a:ext cx="105156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3790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37511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06436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797223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29776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Sev</a:t>
                      </a:r>
                      <a:r>
                        <a:rPr lang="en-US" dirty="0"/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03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32.8%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121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K=5+Clean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13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K=5 No Clean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88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187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AA788-1933-8F22-8AF4-7B2CE930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D879-8D2D-D794-18D9-6ED4ED70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r>
              <a:rPr lang="en-US" sz="3200" dirty="0" err="1"/>
              <a:t>CoOp</a:t>
            </a:r>
            <a:r>
              <a:rPr lang="en-US" sz="3200" dirty="0"/>
              <a:t> Robustness Results (Oxford Pets Only)</a:t>
            </a:r>
            <a:br>
              <a:rPr lang="en-US" sz="16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255F3-FCC4-2288-A1FC-2CD2DE0AFD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2270760"/>
            <a:ext cx="10788304" cy="458724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 err="1"/>
              <a:t>CoOp</a:t>
            </a:r>
            <a:r>
              <a:rPr lang="en-US" dirty="0"/>
              <a:t> remains stable at all severity levels because it uses learned prompts.</a:t>
            </a: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1999A-4520-1B70-DD7B-40AF566503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A69BC6-93D2-0337-3416-887C996A9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977081"/>
              </p:ext>
            </p:extLst>
          </p:nvPr>
        </p:nvGraphicFramePr>
        <p:xfrm>
          <a:off x="1270417" y="3663198"/>
          <a:ext cx="10515600" cy="731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936535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43515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664433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661301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89092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Sev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869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CoOp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91.11%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91.11%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91.11%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239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915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1FE09-4B79-C4F1-AC94-EEC2AD08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E102-1F2F-0116-0C8B-2A791455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3: Regularized Noise-Aware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1173A-6096-45EF-8BA1-8273FC556D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1650" y="1931437"/>
            <a:ext cx="10788304" cy="426563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In Phase 3, we fine-tune CLIP using both clean and noisy prompts with a consistency regularization loss. </a:t>
            </a:r>
          </a:p>
          <a:p>
            <a:r>
              <a:rPr lang="en-US" dirty="0"/>
              <a:t>The goal is to teach the model that clean and noisy prompts should produce similar outputs.</a:t>
            </a:r>
          </a:p>
          <a:p>
            <a:r>
              <a:rPr lang="en-US" dirty="0"/>
              <a:t>Train on </a:t>
            </a:r>
            <a:r>
              <a:rPr lang="en-US" b="1" dirty="0"/>
              <a:t>Oxford Pets</a:t>
            </a:r>
            <a:r>
              <a:rPr lang="en-US" dirty="0"/>
              <a:t> using:</a:t>
            </a:r>
          </a:p>
          <a:p>
            <a:pPr lvl="1"/>
            <a:r>
              <a:rPr lang="en-US" b="1" dirty="0"/>
              <a:t>Cross-entropy loss</a:t>
            </a:r>
            <a:endParaRPr lang="en-US" dirty="0"/>
          </a:p>
          <a:p>
            <a:pPr lvl="1"/>
            <a:r>
              <a:rPr lang="en-US" b="1" dirty="0"/>
              <a:t>KL-divergence consistency loss</a:t>
            </a:r>
            <a:r>
              <a:rPr lang="en-US" dirty="0"/>
              <a:t> (forces clean + noisy prompts to match)</a:t>
            </a:r>
          </a:p>
          <a:p>
            <a:pPr marL="0" indent="0">
              <a:buNone/>
            </a:pPr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D8865-3ECC-20A1-130E-9E5F667EDB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37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C3311-DF23-F398-5607-39469E8C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1F77-AF70-0DD6-3153-517D89A1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Phase 3: Regularized Noise-Aware Fine-Tuning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6A75-29C0-E6C1-3194-1126A3B48F7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59444-00ED-7957-B0E4-FBB310448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469" y="1804237"/>
            <a:ext cx="8667062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6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DF721-09BB-5002-9D7E-12651139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A003-B957-EE7A-1DA3-D3A649D5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sz="3600" dirty="0"/>
              <a:t>Regularized Noise-Aware Fine-Tuning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2658-A433-0387-EDD3-8982DAC2317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FF7D-467E-7134-FE43-F041BAD1E9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9A9EDB-E24F-F549-B26C-FC23DE5BB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42694"/>
              </p:ext>
            </p:extLst>
          </p:nvPr>
        </p:nvGraphicFramePr>
        <p:xfrm>
          <a:off x="1134065" y="2826016"/>
          <a:ext cx="6127510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22466">
                  <a:extLst>
                    <a:ext uri="{9D8B030D-6E8A-4147-A177-3AD203B41FA5}">
                      <a16:colId xmlns:a16="http://schemas.microsoft.com/office/drawing/2014/main" val="6050992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55953928"/>
                    </a:ext>
                  </a:extLst>
                </a:gridCol>
                <a:gridCol w="1178169">
                  <a:extLst>
                    <a:ext uri="{9D8B030D-6E8A-4147-A177-3AD203B41FA5}">
                      <a16:colId xmlns:a16="http://schemas.microsoft.com/office/drawing/2014/main" val="2330505015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1277952518"/>
                    </a:ext>
                  </a:extLst>
                </a:gridCol>
                <a:gridCol w="1899137">
                  <a:extLst>
                    <a:ext uri="{9D8B030D-6E8A-4147-A177-3AD203B41FA5}">
                      <a16:colId xmlns:a16="http://schemas.microsoft.com/office/drawing/2014/main" val="1710463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After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/>
                        <a:t>Δ (</a:t>
                      </a:r>
                      <a:r>
                        <a:rPr lang="en-US"/>
                        <a:t>Improvement)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409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K =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87.35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+5.89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288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29.54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68.11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+38.57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64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45.84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+29.90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144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23.79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+16.79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254380"/>
                  </a:ext>
                </a:extLst>
              </a:tr>
            </a:tbl>
          </a:graphicData>
        </a:graphic>
      </p:graphicFrame>
      <p:pic>
        <p:nvPicPr>
          <p:cNvPr id="10" name="Picture 9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BB48F20D-D016-DC59-60C2-1B2851F1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575" y="2339035"/>
            <a:ext cx="4331542" cy="280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48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FDD0D-064A-4108-ECF7-D6F29BE6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04437-8CB6-E6E6-62F8-2D4E4C31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232725"/>
            <a:ext cx="9150675" cy="1427585"/>
          </a:xfrm>
        </p:spPr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Ensemble Strategy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03D9-F39A-36E1-582B-1DE1C29C62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51139-E4FC-7C31-1F63-5B1046D24D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icture 6" descr="A cat sitting on a window sill&#10;&#10;Description automatically generated">
            <a:extLst>
              <a:ext uri="{FF2B5EF4-FFF2-40B4-BE49-F238E27FC236}">
                <a16:creationId xmlns:a16="http://schemas.microsoft.com/office/drawing/2014/main" id="{AE4A89E9-4E18-D357-8212-B4AF3B656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1389184"/>
            <a:ext cx="4095812" cy="534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95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8BADD-06A8-5992-0B85-7AB4B598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B867-0FC8-450A-1B18-17A7A2E7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ABLATION STUDY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BDAC-A3A7-E74F-EDCA-FCBD038F70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0EB60-1105-5827-2795-54CEAFF163F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 descr="A graph showing different colored bars&#10;&#10;Description automatically generated">
            <a:extLst>
              <a:ext uri="{FF2B5EF4-FFF2-40B4-BE49-F238E27FC236}">
                <a16:creationId xmlns:a16="http://schemas.microsoft.com/office/drawing/2014/main" id="{DD9200B7-655D-F9B7-32EF-B28D0F061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971" y="2947100"/>
            <a:ext cx="6610309" cy="3866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8341D-7A0F-F80F-BB3B-37FC0A29B487}"/>
              </a:ext>
            </a:extLst>
          </p:cNvPr>
          <p:cNvSpPr txBox="1"/>
          <p:nvPr/>
        </p:nvSpPr>
        <p:spPr>
          <a:xfrm>
            <a:off x="1134066" y="1674954"/>
            <a:ext cx="10419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Our ablation shows that both </a:t>
            </a:r>
          </a:p>
          <a:p>
            <a:pPr marL="457200" indent="-457200">
              <a:buAutoNum type="arabicPeriod"/>
            </a:pPr>
            <a:r>
              <a:rPr lang="en-US" sz="2000" b="1" dirty="0"/>
              <a:t>Ensemble Strategy </a:t>
            </a:r>
          </a:p>
          <a:p>
            <a:pPr marL="457200" indent="-457200">
              <a:buAutoNum type="arabicPeriod"/>
            </a:pPr>
            <a:r>
              <a:rPr lang="en-US" sz="2000" b="1" dirty="0"/>
              <a:t>Noise-aware training significantly boosts performance under noisy prompts.</a:t>
            </a:r>
          </a:p>
        </p:txBody>
      </p:sp>
    </p:spTree>
    <p:extLst>
      <p:ext uri="{BB962C8B-B14F-4D97-AF65-F5344CB8AC3E}">
        <p14:creationId xmlns:p14="http://schemas.microsoft.com/office/powerpoint/2010/main" val="3421730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9714B-2AF9-DF79-5799-5B6CE118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2631-3C5C-D5C9-6E40-5E40B9B49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Conclusion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B18FE-5770-4710-4317-937139148A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B59C0-7247-F50A-9F04-777025DF8B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51AD1-71A8-740C-5D4C-A0AD8BA892DD}"/>
              </a:ext>
            </a:extLst>
          </p:cNvPr>
          <p:cNvSpPr txBox="1"/>
          <p:nvPr/>
        </p:nvSpPr>
        <p:spPr>
          <a:xfrm>
            <a:off x="896627" y="1585991"/>
            <a:ext cx="11057935" cy="373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VLMs are highly sensitive to prompt variations, especially CLIP.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Prompt </a:t>
            </a:r>
            <a:r>
              <a:rPr lang="en-US" sz="2000" dirty="0" err="1"/>
              <a:t>ensembling</a:t>
            </a:r>
            <a:r>
              <a:rPr lang="en-US" sz="2000" dirty="0"/>
              <a:t> is a simple and effective Strategy that enhance model </a:t>
            </a:r>
            <a:r>
              <a:rPr lang="en-US" sz="2000" dirty="0" err="1"/>
              <a:t>robudtness</a:t>
            </a:r>
            <a:r>
              <a:rPr lang="en-US" sz="2000" dirty="0"/>
              <a:t> to noisy prompts.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CoOp</a:t>
            </a:r>
            <a:r>
              <a:rPr lang="en-US" sz="2000" dirty="0"/>
              <a:t> remains stable across noise levels, and </a:t>
            </a:r>
            <a:r>
              <a:rPr lang="en-US" sz="2000" dirty="0" err="1"/>
              <a:t>SigLIP</a:t>
            </a:r>
            <a:r>
              <a:rPr lang="en-US" sz="2000" dirty="0"/>
              <a:t> performs better than CLIP under domain shift.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Training objectives (Loss Functions) strongly affect robustness, and noise-aware fine-tuning </a:t>
            </a:r>
            <a:r>
              <a:rPr lang="en-US" sz="2000" dirty="0" err="1"/>
              <a:t>significuntly</a:t>
            </a:r>
            <a:r>
              <a:rPr lang="en-US" sz="2000" dirty="0"/>
              <a:t> improves CLIP’s stability.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6356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EF54C-8920-09B9-799A-BC2EC90ED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84CB-EE60-549A-64B0-B56B5CD9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503852"/>
            <a:ext cx="9150675" cy="1427585"/>
          </a:xfrm>
        </p:spPr>
        <p:txBody>
          <a:bodyPr/>
          <a:lstStyle/>
          <a:p>
            <a:r>
              <a:rPr lang="en-US" dirty="0"/>
              <a:t>Future Work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DCCE0-D206-4DD0-3E36-638C197302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4065" y="1931437"/>
            <a:ext cx="10172367" cy="4795804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endParaRPr lang="en-US" sz="2000" i="1" dirty="0"/>
          </a:p>
          <a:p>
            <a:endParaRPr lang="en-US" sz="2000" i="1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5574E-DBFB-64D7-F3B9-64D5D35865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2069F-0194-B46C-28E9-B807D93268CB}"/>
              </a:ext>
            </a:extLst>
          </p:cNvPr>
          <p:cNvSpPr txBox="1"/>
          <p:nvPr/>
        </p:nvSpPr>
        <p:spPr>
          <a:xfrm>
            <a:off x="1493519" y="1863232"/>
            <a:ext cx="9760203" cy="2244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Testing additional VLM </a:t>
            </a:r>
            <a:r>
              <a:rPr lang="en-US" sz="2400" dirty="0"/>
              <a:t>architectures like BLIP and </a:t>
            </a:r>
            <a:r>
              <a:rPr lang="en-US" sz="2400" dirty="0" err="1"/>
              <a:t>LLaVA</a:t>
            </a:r>
            <a:r>
              <a:rPr lang="en-US" sz="2400" dirty="0"/>
              <a:t> would reveal whether our findings generalize to other models.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Exploring more noise types such as grammatical errors </a:t>
            </a:r>
            <a:r>
              <a:rPr lang="en-US" sz="2400" dirty="0"/>
              <a:t>would build a more comprehensive robustness benchmark.</a:t>
            </a:r>
          </a:p>
        </p:txBody>
      </p:sp>
    </p:spTree>
    <p:extLst>
      <p:ext uri="{BB962C8B-B14F-4D97-AF65-F5344CB8AC3E}">
        <p14:creationId xmlns:p14="http://schemas.microsoft.com/office/powerpoint/2010/main" val="3327577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8712581" cy="5253089"/>
          </a:xfrm>
        </p:spPr>
        <p:txBody>
          <a:bodyPr/>
          <a:lstStyle/>
          <a:p>
            <a:r>
              <a:rPr lang="en-US"/>
              <a:t>Thank you for listening </a:t>
            </a:r>
            <a:br>
              <a:rPr lang="en-US"/>
            </a:br>
            <a:br>
              <a:rPr lang="en-US"/>
            </a:br>
            <a:r>
              <a:rPr lang="en-US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AE0208-DBD5-43E1-AC6B-D2AD9623F0B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DD27D0-5B6E-4A0E-95B2-BB37F9D8861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1719</Words>
  <Application>Microsoft Macintosh PowerPoint</Application>
  <PresentationFormat>Widescreen</PresentationFormat>
  <Paragraphs>412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Helvetica</vt:lpstr>
      <vt:lpstr>Tisa Offc Serif Pro</vt:lpstr>
      <vt:lpstr>Univers Light</vt:lpstr>
      <vt:lpstr>Wingdings</vt:lpstr>
      <vt:lpstr>Custom</vt:lpstr>
      <vt:lpstr>Enhancing Robustness to Prompt Variations in Vision Language Models: A Comprehensive Evaluation of CLIP, SigLIP, and CoOp under Noisy Prompts with Ensembling Strategies  Presented by: Aishah Altamimi </vt:lpstr>
      <vt:lpstr>Outlines</vt:lpstr>
      <vt:lpstr>Introduction</vt:lpstr>
      <vt:lpstr>Baseline Models (Literature Review)</vt:lpstr>
      <vt:lpstr>Literature Review</vt:lpstr>
      <vt:lpstr>Problem Statement</vt:lpstr>
      <vt:lpstr>Datasets</vt:lpstr>
      <vt:lpstr>Loss Functions</vt:lpstr>
      <vt:lpstr>Loss Functions</vt:lpstr>
      <vt:lpstr>Experimental Framework</vt:lpstr>
      <vt:lpstr>Phase 1: Baseline Benchmarking (Clean Prompts)</vt:lpstr>
      <vt:lpstr>Phase 1: Baseline Benchmarking (Clean Prompts)</vt:lpstr>
      <vt:lpstr>Phase 1: Baseline Benchmarking (Clean Prompts)</vt:lpstr>
      <vt:lpstr>Phase 2: Noise Robustness Evaluation:</vt:lpstr>
      <vt:lpstr>Noise Bank Creation</vt:lpstr>
      <vt:lpstr>Noise Bank Creation</vt:lpstr>
      <vt:lpstr>Noise Bank Creation</vt:lpstr>
      <vt:lpstr>Noise Bank Creation</vt:lpstr>
      <vt:lpstr>Phase 2: Algorithm:</vt:lpstr>
      <vt:lpstr>Phase 2: Performance Metrics - Accuracy</vt:lpstr>
      <vt:lpstr>Phase 2: Evaluation Metrics – Other Metrics</vt:lpstr>
      <vt:lpstr>CLIP Robustness Results (All Datasets)</vt:lpstr>
      <vt:lpstr>CLIP Ensemble Strategy on Oxford Dataset </vt:lpstr>
      <vt:lpstr>CLIP Robustness across All Datasets</vt:lpstr>
      <vt:lpstr>SigLIP Robustness Results</vt:lpstr>
      <vt:lpstr>CoOp Robustness Results (Oxford Pets Only) </vt:lpstr>
      <vt:lpstr>Phase 3: Regularized Noise-Aware Fine-Tuning</vt:lpstr>
      <vt:lpstr>Phase 3: Regularized Noise-Aware Fine-Tuning</vt:lpstr>
      <vt:lpstr>Regularized Noise-Aware Fine-Tuning</vt:lpstr>
      <vt:lpstr>Ensemble Strategy</vt:lpstr>
      <vt:lpstr>ABLATION STUDY</vt:lpstr>
      <vt:lpstr>Conclusion</vt:lpstr>
      <vt:lpstr>Future Work</vt:lpstr>
      <vt:lpstr>Thank you for listening   Any Question?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Aisha Altamimi</cp:lastModifiedBy>
  <cp:revision>7</cp:revision>
  <dcterms:created xsi:type="dcterms:W3CDTF">2024-01-11T18:09:01Z</dcterms:created>
  <dcterms:modified xsi:type="dcterms:W3CDTF">2025-11-24T16:52:43Z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